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1"/>
  </p:notesMasterIdLst>
  <p:sldIdLst>
    <p:sldId id="256" r:id="rId2"/>
    <p:sldId id="325" r:id="rId3"/>
    <p:sldId id="326" r:id="rId4"/>
    <p:sldId id="336" r:id="rId5"/>
    <p:sldId id="327" r:id="rId6"/>
    <p:sldId id="337" r:id="rId7"/>
    <p:sldId id="328" r:id="rId8"/>
    <p:sldId id="329" r:id="rId9"/>
    <p:sldId id="330" r:id="rId10"/>
    <p:sldId id="338" r:id="rId11"/>
    <p:sldId id="339" r:id="rId12"/>
    <p:sldId id="340" r:id="rId13"/>
    <p:sldId id="341" r:id="rId14"/>
    <p:sldId id="342" r:id="rId15"/>
    <p:sldId id="331" r:id="rId16"/>
    <p:sldId id="335" r:id="rId17"/>
    <p:sldId id="333" r:id="rId18"/>
    <p:sldId id="334" r:id="rId19"/>
    <p:sldId id="324" r:id="rId20"/>
  </p:sldIdLst>
  <p:sldSz cx="12192000" cy="6858000"/>
  <p:notesSz cx="6858000" cy="12192000"/>
  <p:embeddedFontLst>
    <p:embeddedFont>
      <p:font typeface="Arial Rounded MT Bold" panose="020F0704030504030204" pitchFamily="34" charset="0"/>
      <p:regular r:id="rId22"/>
    </p:embeddedFont>
    <p:embeddedFont>
      <p:font typeface="Maiandra GD" panose="020E0502030308020204" pitchFamily="34" charset="0"/>
      <p:regular r:id="rId23"/>
    </p:embeddedFont>
  </p:embeddedFontLst>
  <p:defaultTex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22F93D-8E99-4F55-8E84-FFD45501A7F3}" v="9" dt="2026-08-24T15:23:30.489"/>
  </p1510:revLst>
</p1510:revInfo>
</file>

<file path=ppt/tableStyles.xml><?xml version="1.0" encoding="utf-8"?>
<a:tblStyleLst xmlns:a="http://schemas.openxmlformats.org/drawingml/2006/main" def="{5C22544A-7EE6-4342-B048-85BDC9FD1C3A}">
  <a:tblStyle styleId="{42F484E2-D13C-4198-809A-BEC5E46278DC}" styleName="Style 3">
    <a:wholeTbl>
      <a:tcTxStyle>
        <a:fontRef idx="minor">
          <a:srgbClr val="000000"/>
        </a:fontRef>
        <a:schemeClr val="tx1"/>
      </a:tcTxStyle>
      <a:tcStyle>
        <a:tcBdr>
          <a:left>
            <a:ln w="12700">
              <a:solidFill>
                <a:schemeClr val="accent1"/>
              </a:solidFill>
            </a:ln>
          </a:left>
          <a:right>
            <a:ln w="12700">
              <a:solidFill>
                <a:schemeClr val="accent1"/>
              </a:solidFill>
            </a:ln>
          </a:right>
          <a:top>
            <a:ln w="12700">
              <a:solidFill>
                <a:schemeClr val="accent1"/>
              </a:solidFill>
            </a:ln>
          </a:top>
          <a:bottom>
            <a:ln w="12700">
              <a:solidFill>
                <a:schemeClr val="accent1"/>
              </a:solidFill>
            </a:ln>
          </a:bottom>
          <a:insideH>
            <a:ln w="12700">
              <a:solidFill>
                <a:schemeClr val="accent1"/>
              </a:solidFill>
            </a:ln>
          </a:insideH>
          <a:insideV>
            <a:ln w="12700">
              <a:solidFill>
                <a:schemeClr val="accent1"/>
              </a:solidFill>
            </a:ln>
          </a:insideV>
        </a:tcBdr>
        <a:fill>
          <a:noFill/>
        </a:fill>
      </a:tcStyle>
    </a:wholeTbl>
    <a:band1H>
      <a:tcStyle>
        <a:tcBdr/>
        <a:fill>
          <a:solidFill>
            <a:schemeClr val="accent1">
              <a:alpha val="19999"/>
            </a:schemeClr>
          </a:solidFill>
        </a:fill>
      </a:tcStyle>
    </a:band1H>
    <a:band1V>
      <a:tcStyle>
        <a:tcBdr/>
        <a:fill>
          <a:solidFill>
            <a:schemeClr val="accent1">
              <a:alpha val="19999"/>
            </a:schemeClr>
          </a:solidFill>
        </a:fill>
      </a:tcStyle>
    </a:band1V>
    <a:lastCol>
      <a:tcTxStyle b="on"/>
      <a:tcStyle>
        <a:tcBdr/>
      </a:tcStyle>
    </a:lastCol>
    <a:firstCol>
      <a:tcTxStyle b="on"/>
      <a:tcStyle>
        <a:tcBdr/>
      </a:tcStyle>
    </a:firstCol>
    <a:lastRow>
      <a:tcTxStyle b="on"/>
      <a:tcStyle>
        <a:tcBdr>
          <a:top>
            <a:ln w="50800">
              <a:solidFill>
                <a:schemeClr val="accent1"/>
              </a:solidFill>
            </a:ln>
          </a:top>
        </a:tcBdr>
        <a:fill>
          <a:noFill/>
        </a:fill>
      </a:tcStyle>
    </a:lastRow>
    <a:firstRow>
      <a:tcTxStyle b="on"/>
      <a:tcStyle>
        <a:tcBdr>
          <a:bottom>
            <a:ln w="25400">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63" autoAdjust="0"/>
    <p:restoredTop sz="86405" autoAdjust="0"/>
  </p:normalViewPr>
  <p:slideViewPr>
    <p:cSldViewPr>
      <p:cViewPr varScale="1">
        <p:scale>
          <a:sx n="77" d="100"/>
          <a:sy n="77" d="100"/>
        </p:scale>
        <p:origin x="1104"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671638" cy="81562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185095" y="0"/>
            <a:ext cx="1671638" cy="815623"/>
          </a:xfrm>
          <a:prstGeom prst="rect">
            <a:avLst/>
          </a:prstGeom>
        </p:spPr>
        <p:txBody>
          <a:bodyPr vert="horz" lIns="91440" tIns="45720" rIns="91440" bIns="45720" rtlCol="0"/>
          <a:lstStyle>
            <a:lvl1pPr algn="r">
              <a:defRPr sz="1200"/>
            </a:lvl1pPr>
          </a:lstStyle>
          <a:p>
            <a:fld id="{44B65459-4C01-9248-BDAA-F28591FAF6F5}" type="datetimeFigureOut">
              <a:rPr lang="en-US" smtClean="0"/>
              <a:t>9/28/2026</a:t>
            </a:fld>
            <a:endParaRPr lang="en-US"/>
          </a:p>
        </p:txBody>
      </p:sp>
      <p:sp>
        <p:nvSpPr>
          <p:cNvPr id="4" name="Slide Image Placeholder 3"/>
          <p:cNvSpPr>
            <a:spLocks noGrp="1" noRot="1" noChangeAspect="1"/>
          </p:cNvSpPr>
          <p:nvPr>
            <p:ph type="sldImg" idx="2"/>
          </p:nvPr>
        </p:nvSpPr>
        <p:spPr>
          <a:xfrm>
            <a:off x="-2947988" y="2032000"/>
            <a:ext cx="9753601" cy="54864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85763" y="7823200"/>
            <a:ext cx="3086100" cy="6400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5440380"/>
            <a:ext cx="1671638" cy="81562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185095" y="15440380"/>
            <a:ext cx="1671638" cy="815621"/>
          </a:xfrm>
          <a:prstGeom prst="rect">
            <a:avLst/>
          </a:prstGeom>
        </p:spPr>
        <p:txBody>
          <a:bodyPr vert="horz" lIns="91440" tIns="45720" rIns="91440" bIns="45720" rtlCol="0" anchor="b"/>
          <a:lstStyle>
            <a:lvl1pPr algn="r">
              <a:defRPr sz="1200"/>
            </a:lvl1pPr>
          </a:lstStyle>
          <a:p>
            <a:fld id="{69327042-6B61-B148-8485-8BBBFAA13D24}" type="slidenum">
              <a:rPr lang="en-US" smtClean="0"/>
              <a:t>‹#›</a:t>
            </a:fld>
            <a:endParaRPr lang="en-US"/>
          </a:p>
        </p:txBody>
      </p:sp>
    </p:spTree>
    <p:extLst>
      <p:ext uri="{BB962C8B-B14F-4D97-AF65-F5344CB8AC3E}">
        <p14:creationId xmlns:p14="http://schemas.microsoft.com/office/powerpoint/2010/main" val="108032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3DCFA7E3-AF1E-4675-AD18-D5B679F37F4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4E6D2F1-D737-43DE-B4CE-C454EF7BBD4A}"/>
              </a:ext>
            </a:extLst>
          </p:cNvPr>
          <p:cNvSpPr>
            <a:spLocks noGrp="1"/>
          </p:cNvSpPr>
          <p:nvPr>
            <p:ph type="title"/>
          </p:nvPr>
        </p:nvSpPr>
        <p:spPr>
          <a:xfrm>
            <a:off x="1524000" y="1854199"/>
            <a:ext cx="9144000" cy="1655763"/>
          </a:xfrm>
        </p:spPr>
        <p:txBody>
          <a:bodyPr rtlCol="0" anchor="b"/>
          <a:lstStyle>
            <a:lvl1pPr lvl="0" algn="ctr">
              <a:defRPr lang="en-US" sz="6000" dirty="0"/>
            </a:lvl1pPr>
          </a:lstStyle>
          <a:p>
            <a:r>
              <a:rPr lang="en-US" dirty="0"/>
              <a:t>Click to edit Master title style</a:t>
            </a:r>
          </a:p>
        </p:txBody>
      </p:sp>
      <p:sp>
        <p:nvSpPr>
          <p:cNvPr id="3" name="Subtitle 2">
            <a:extLst>
              <a:ext uri="{32171CF1-2CD1-4848-A55A-5A508E25A32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04F51DF-EF08-4C97-A330-FD7D92F0EA98}"/>
              </a:ext>
            </a:extLst>
          </p:cNvPr>
          <p:cNvSpPr>
            <a:spLocks noGrp="1"/>
          </p:cNvSpPr>
          <p:nvPr>
            <p:ph type="subTitle" idx="1"/>
          </p:nvPr>
        </p:nvSpPr>
        <p:spPr>
          <a:xfrm>
            <a:off x="1524000" y="3602038"/>
            <a:ext cx="9144000" cy="1655762"/>
          </a:xfrm>
        </p:spPr>
        <p:txBody>
          <a:bodyPr rtlCol="0"/>
          <a:lstStyle>
            <a:lvl1pPr marL="0" lvl="0" indent="0" algn="ctr">
              <a:buNone/>
              <a:defRPr lang="en-US" sz="2400" dirty="0"/>
            </a:lvl1pPr>
            <a:lvl2pPr marL="457200" lvl="1" indent="0" algn="ctr">
              <a:buNone/>
              <a:defRPr lang="en-US" sz="2000" dirty="0"/>
            </a:lvl2pPr>
            <a:lvl3pPr marL="914400" lvl="2" indent="0" algn="ctr">
              <a:buNone/>
              <a:defRPr lang="en-US" sz="1800" dirty="0"/>
            </a:lvl3pPr>
            <a:lvl4pPr marL="1371600" lvl="3" indent="0" algn="ctr">
              <a:buNone/>
              <a:defRPr lang="en-US" sz="1600" dirty="0"/>
            </a:lvl4pPr>
            <a:lvl5pPr marL="1828800" lvl="4" indent="0" algn="ctr">
              <a:buNone/>
              <a:defRPr lang="en-US" sz="1600" dirty="0"/>
            </a:lvl5pPr>
            <a:lvl6pPr marL="2286000" lvl="5" indent="0" algn="ctr">
              <a:buNone/>
              <a:defRPr lang="en-US" sz="1600" dirty="0"/>
            </a:lvl6pPr>
            <a:lvl7pPr marL="2743200" lvl="6" indent="0" algn="ctr">
              <a:buNone/>
              <a:defRPr lang="en-US" sz="1600" dirty="0"/>
            </a:lvl7pPr>
            <a:lvl8pPr marL="3200400" lvl="7" indent="0" algn="ctr">
              <a:buNone/>
              <a:defRPr lang="en-US" sz="1600" dirty="0"/>
            </a:lvl8pPr>
            <a:lvl9pPr marL="3657600" lvl="8" indent="0" algn="ctr">
              <a:buNone/>
              <a:defRPr lang="en-US" sz="1600" dirty="0"/>
            </a:lvl9pPr>
          </a:lstStyle>
          <a:p>
            <a:r>
              <a:rPr lang="en-US" dirty="0"/>
              <a:t>Click to edit Master subtitle style</a:t>
            </a:r>
          </a:p>
        </p:txBody>
      </p:sp>
      <p:pic>
        <p:nvPicPr>
          <p:cNvPr id="4" name="Picture 3">
            <a:extLst>
              <a:ext uri="{C1EB77FD-C848-422B-B273-451CDA41F43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1682ECF-C071-4F62-8564-87ABCCA31ACA}"/>
              </a:ext>
            </a:extLst>
          </p:cNvPr>
          <p:cNvPicPr>
            <a:picLocks noChangeAspect="1"/>
          </p:cNvPicPr>
          <p:nvPr userDrawn="1"/>
        </p:nvPicPr>
        <p:blipFill>
          <a:blip r:embed="rId2"/>
          <a:stretch>
            <a:fillRect/>
          </a:stretch>
        </p:blipFill>
        <p:spPr>
          <a:xfrm>
            <a:off x="2567608" y="592088"/>
            <a:ext cx="7609140" cy="1008112"/>
          </a:xfrm>
          <a:prstGeom prst="rect">
            <a:avLst/>
          </a:prstGeom>
          <a:noFill/>
        </p:spPr>
      </p:pic>
      <p:sp>
        <p:nvSpPr>
          <p:cNvPr id="5" name="Footer Placeholder 4">
            <a:extLst>
              <a:ext uri="{C687AB22-C009-4796-A595-4B274F53E9E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9EC38CB-622C-4106-803A-85E3D5477226}"/>
              </a:ext>
            </a:extLst>
          </p:cNvPr>
          <p:cNvSpPr>
            <a:spLocks noGrp="1"/>
          </p:cNvSpPr>
          <p:nvPr>
            <p:ph type="ftr" sz="quarter" idx="11"/>
          </p:nvPr>
        </p:nvSpPr>
        <p:spPr/>
        <p:txBody>
          <a:bodyPr rtlCol="0"/>
          <a:lstStyle>
            <a:lvl1pPr lvl="0"/>
          </a:lstStyle>
          <a:p>
            <a:r>
              <a:rPr lang="en-US"/>
              <a:t>PBL Course Name: Object Oriented Programming through C++(2501CS08)     REVIEW-1</a:t>
            </a:r>
            <a:endParaRPr lang="en-US" dirty="0"/>
          </a:p>
        </p:txBody>
      </p:sp>
      <p:sp>
        <p:nvSpPr>
          <p:cNvPr id="6" name="Slide Number Placeholder 5">
            <a:extLst>
              <a:ext uri="{30F4214F-3E4E-4B8B-8AC2-BF59D50B2CD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25D679E-58E0-45F1-BEFC-163C6EEC181D}"/>
              </a:ext>
            </a:extLst>
          </p:cNvPr>
          <p:cNvSpPr>
            <a:spLocks noGrp="1"/>
          </p:cNvSpPr>
          <p:nvPr>
            <p:ph type="sldNum" sz="quarter" idx="12"/>
          </p:nvPr>
        </p:nvSpPr>
        <p:spPr/>
        <p:txBody>
          <a:bodyPr rtlCol="0"/>
          <a:lstStyle>
            <a:lvl1pPr lvl="0"/>
          </a:lstStyle>
          <a:p>
            <a:r>
              <a:rPr lang="en-US" dirty="0"/>
              <a:t>&lt;#&gt;</a:t>
            </a:r>
          </a:p>
        </p:txBody>
      </p:sp>
      <p:sp>
        <p:nvSpPr>
          <p:cNvPr id="7" name="Date Placeholder 3">
            <a:extLst>
              <a:ext uri="{02364871-6258-47BB-A41D-1E9BEBD3EA9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E775BF1-9C64-4531-A7E2-730347FD3CA5}"/>
              </a:ext>
            </a:extLst>
          </p:cNvPr>
          <p:cNvSpPr>
            <a:spLocks noGrp="1"/>
          </p:cNvSpPr>
          <p:nvPr>
            <p:ph type="dt" sz="half" idx="10"/>
          </p:nvPr>
        </p:nvSpPr>
        <p:spPr/>
        <p:txBody>
          <a:bodyPr rtlCol="0"/>
          <a:lstStyle>
            <a:lvl1pPr lvl="0"/>
          </a:lstStyle>
          <a:p>
            <a:fld id="{23B885CB-12B0-4AB7-A523-856A576656C9}" type="datetime1">
              <a:rPr lang="en-US" smtClean="0"/>
              <a:t>9/28/2026</a:t>
            </a:fld>
            <a:endParaRPr lang="en-US" dirty="0"/>
          </a:p>
        </p:txBody>
      </p:sp>
    </p:spTree>
    <p:extLst>
      <p:ext uri="{7D129387-9967-4C73-939D-69EF041DFD95}">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8511710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Content Placeholder 2">
            <a:extLst>
              <a:ext uri="{05269A97-DC81-49F9-B896-84CAB659C62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56F5785-025F-4915-96E3-0AFF7163BC15}"/>
              </a:ext>
            </a:extLst>
          </p:cNvPr>
          <p:cNvSpPr>
            <a:spLocks noGrp="1"/>
          </p:cNvSpPr>
          <p:nvPr>
            <p:ph/>
          </p:nvPr>
        </p:nvSpPr>
        <p:spPr>
          <a:xfrm>
            <a:off x="869085" y="1561876"/>
            <a:ext cx="10515600" cy="4531419"/>
          </a:xfrm>
        </p:spPr>
        <p:txBody>
          <a:bodyPr rtlCol="0"/>
          <a:lstStyle>
            <a:lvl1pPr marL="457200" lvl="0" indent="0">
              <a:buNone/>
            </a:lvl1pPr>
            <a:lvl2pPr marL="914400" lvl="1" indent="0">
              <a:buNone/>
            </a:lvl2pPr>
            <a:lvl3pPr marL="1371600" lvl="2" indent="0">
              <a:buNone/>
            </a:lvl3pPr>
            <a:lvl4pPr marL="1828800" lvl="3" indent="0">
              <a:buNone/>
            </a:lvl4pPr>
          </a:lstStyle>
          <a:p>
            <a:pPr lvl="0"/>
            <a:r>
              <a:rPr lang="en-US" dirty="0"/>
              <a:t>Click to edit Master text styles</a:t>
            </a:r>
          </a:p>
        </p:txBody>
      </p:sp>
      <p:sp>
        <p:nvSpPr>
          <p:cNvPr id="3" name="Date Placeholder 2">
            <a:extLst>
              <a:ext uri="{C7EE3D1E-6A2F-4B40-9445-6784FC740A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4C561F3-3431-4CB3-94B3-3A3D9CDA63D8}"/>
              </a:ext>
            </a:extLst>
          </p:cNvPr>
          <p:cNvSpPr>
            <a:spLocks noGrp="1"/>
          </p:cNvSpPr>
          <p:nvPr>
            <p:ph type="dt" sz="half" idx="1"/>
          </p:nvPr>
        </p:nvSpPr>
        <p:spPr>
          <a:xfrm>
            <a:off x="695400" y="6278769"/>
            <a:ext cx="1656183" cy="365125"/>
          </a:xfrm>
          <a:ln>
            <a:noFill/>
          </a:ln>
        </p:spPr>
        <p:txBody>
          <a:bodyPr rtlCol="0"/>
          <a:lstStyle>
            <a:lvl1pPr lvl="0">
              <a:defRPr lang="en-US" b="1" dirty="0">
                <a:solidFill>
                  <a:schemeClr val="bg1">
                    <a:lumMod val="50000"/>
                  </a:schemeClr>
                </a:solidFill>
                <a:latin typeface="+mn-lt"/>
              </a:defRPr>
            </a:lvl1pPr>
          </a:lstStyle>
          <a:p>
            <a:fld id="{C20F1802-9C65-458A-8FBF-F4B557FF2340}" type="datetime1">
              <a:rPr lang="en-US" smtClean="0"/>
              <a:t>9/28/2026</a:t>
            </a:fld>
            <a:endParaRPr lang="en-US" dirty="0"/>
          </a:p>
        </p:txBody>
      </p:sp>
      <p:sp>
        <p:nvSpPr>
          <p:cNvPr id="4" name="Footer Placeholder 3">
            <a:extLst>
              <a:ext uri="{E2B100E3-D1A2-4814-971B-1F28BC986BE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6403740-14DB-4D0C-AC81-1640F2592B4A}"/>
              </a:ext>
            </a:extLst>
          </p:cNvPr>
          <p:cNvSpPr>
            <a:spLocks noGrp="1"/>
          </p:cNvSpPr>
          <p:nvPr>
            <p:ph type="ftr" sz="quarter" idx="2"/>
          </p:nvPr>
        </p:nvSpPr>
        <p:spPr>
          <a:xfrm>
            <a:off x="2567608" y="6278771"/>
            <a:ext cx="6912768" cy="365125"/>
          </a:xfrm>
          <a:ln>
            <a:noFill/>
          </a:ln>
        </p:spPr>
        <p:txBody>
          <a:bodyPr rtlCol="0"/>
          <a:lstStyle>
            <a:lvl1pPr lvl="0">
              <a:defRPr lang="en-US" b="1" dirty="0">
                <a:solidFill>
                  <a:schemeClr val="bg1">
                    <a:lumMod val="50000"/>
                  </a:schemeClr>
                </a:solidFill>
                <a:latin typeface="+mn-lt"/>
              </a:defRPr>
            </a:lvl1pPr>
          </a:lstStyle>
          <a:p>
            <a:r>
              <a:rPr lang="en-US"/>
              <a:t>PBL Course Name: Object Oriented Programming through C++(2501CS08)     REVIEW-1</a:t>
            </a:r>
            <a:endParaRPr lang="en-US" dirty="0"/>
          </a:p>
        </p:txBody>
      </p:sp>
      <p:pic>
        <p:nvPicPr>
          <p:cNvPr id="5" name="Picture 2">
            <a:extLst>
              <a:ext uri="{DAD87817-DB1B-4DE8-BD41-41BB3E99A74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3518EA9-28E9-4397-BCB4-F5D7ABFF9E3A}"/>
              </a:ext>
            </a:extLst>
          </p:cNvPr>
          <p:cNvPicPr>
            <a:picLocks noChangeAspect="1" noChangeArrowheads="1"/>
          </p:cNvPicPr>
          <p:nvPr userDrawn="1"/>
        </p:nvPicPr>
        <p:blipFill>
          <a:blip r:embed="rId2"/>
          <a:stretch>
            <a:fillRect/>
          </a:stretch>
        </p:blipFill>
        <p:spPr>
          <a:xfrm>
            <a:off x="-240709" y="-243408"/>
            <a:ext cx="3249644" cy="1800000"/>
          </a:xfrm>
          <a:prstGeom prst="rect">
            <a:avLst/>
          </a:prstGeom>
          <a:noFill/>
        </p:spPr>
      </p:pic>
      <p:sp>
        <p:nvSpPr>
          <p:cNvPr id="6" name="Slide Number Placeholder 3">
            <a:extLst>
              <a:ext uri="{8B62DEED-5952-4478-9464-706CCDCB22D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265A311-D434-4806-B3C0-ED40E2B04ADB}"/>
              </a:ext>
            </a:extLst>
          </p:cNvPr>
          <p:cNvSpPr>
            <a:spLocks noGrp="1"/>
          </p:cNvSpPr>
          <p:nvPr>
            <p:ph type="sldNum" sz="quarter" idx="3"/>
          </p:nvPr>
        </p:nvSpPr>
        <p:spPr>
          <a:xfrm>
            <a:off x="10272464" y="6356350"/>
            <a:ext cx="1081336" cy="365125"/>
          </a:xfrm>
        </p:spPr>
        <p:txBody>
          <a:bodyPr rtlCol="0"/>
          <a:lstStyle/>
          <a:p>
            <a:fld id="{9359D16F-76A5-41BA-ADDD-CBF352B33DDD}" type="slidenum">
              <a:t>‹#›</a:t>
            </a:fld>
            <a:endParaRPr lang="en-US" dirty="0"/>
          </a:p>
        </p:txBody>
      </p:sp>
    </p:spTree>
    <p:extLst>
      <p:ext uri="{E791D5F0-FCE4-45B8-828D-F7D7E855498A}">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8511710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2">
            <a:extLst>
              <a:ext uri="{2A124749-B5E7-4428-BF59-41C47B6A612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8CFA2DB-E1A9-463A-BC5A-35A8CCF5293E}"/>
              </a:ext>
            </a:extLst>
          </p:cNvPr>
          <p:cNvPicPr>
            <a:picLocks noChangeAspect="1" noChangeArrowheads="1"/>
          </p:cNvPicPr>
          <p:nvPr userDrawn="1"/>
        </p:nvPicPr>
        <p:blipFill>
          <a:blip r:embed="rId2"/>
          <a:stretch>
            <a:fillRect/>
          </a:stretch>
        </p:blipFill>
        <p:spPr>
          <a:xfrm>
            <a:off x="-240709" y="-243408"/>
            <a:ext cx="3249644" cy="1800000"/>
          </a:xfrm>
          <a:prstGeom prst="rect">
            <a:avLst/>
          </a:prstGeom>
          <a:noFill/>
        </p:spPr>
      </p:pic>
      <p:sp>
        <p:nvSpPr>
          <p:cNvPr id="3" name="Date Placeholder 2">
            <a:extLst>
              <a:ext uri="{E7A761B9-81CB-49B2-8BE6-983B6B07B3D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F471AC3-982D-4B96-9E59-D3B6F74D9039}"/>
              </a:ext>
            </a:extLst>
          </p:cNvPr>
          <p:cNvSpPr>
            <a:spLocks noGrp="1"/>
          </p:cNvSpPr>
          <p:nvPr>
            <p:ph type="dt" sz="half" idx="10"/>
          </p:nvPr>
        </p:nvSpPr>
        <p:spPr>
          <a:xfrm>
            <a:off x="695400" y="6278769"/>
            <a:ext cx="1656183" cy="365125"/>
          </a:xfrm>
          <a:ln>
            <a:noFill/>
          </a:ln>
        </p:spPr>
        <p:txBody>
          <a:bodyPr rtlCol="0"/>
          <a:lstStyle>
            <a:lvl1pPr lvl="0">
              <a:defRPr lang="en-US" b="1" dirty="0">
                <a:solidFill>
                  <a:schemeClr val="bg1">
                    <a:lumMod val="50000"/>
                  </a:schemeClr>
                </a:solidFill>
                <a:latin typeface="+mn-lt"/>
              </a:defRPr>
            </a:lvl1pPr>
          </a:lstStyle>
          <a:p>
            <a:fld id="{E761D253-940C-44B0-8F51-8C8A37AEAF73}" type="datetime1">
              <a:rPr lang="en-US" smtClean="0"/>
              <a:t>9/28/2026</a:t>
            </a:fld>
            <a:endParaRPr lang="en-US" dirty="0"/>
          </a:p>
        </p:txBody>
      </p:sp>
      <p:sp>
        <p:nvSpPr>
          <p:cNvPr id="4" name="Footer Placeholder 3">
            <a:extLst>
              <a:ext uri="{7A687B93-B742-4FC6-AC3F-36C63D4DF72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5844C2E-6153-4C88-A824-95DE18C30385}"/>
              </a:ext>
            </a:extLst>
          </p:cNvPr>
          <p:cNvSpPr>
            <a:spLocks noGrp="1"/>
          </p:cNvSpPr>
          <p:nvPr>
            <p:ph type="ftr" sz="quarter" idx="11"/>
          </p:nvPr>
        </p:nvSpPr>
        <p:spPr>
          <a:xfrm>
            <a:off x="2567608" y="6278771"/>
            <a:ext cx="6912768" cy="365125"/>
          </a:xfrm>
          <a:ln>
            <a:noFill/>
          </a:ln>
        </p:spPr>
        <p:txBody>
          <a:bodyPr rtlCol="0"/>
          <a:lstStyle>
            <a:lvl1pPr lvl="0">
              <a:defRPr lang="en-US" b="1" dirty="0">
                <a:solidFill>
                  <a:schemeClr val="bg1">
                    <a:lumMod val="50000"/>
                  </a:schemeClr>
                </a:solidFill>
                <a:latin typeface="+mn-lt"/>
              </a:defRPr>
            </a:lvl1pPr>
          </a:lstStyle>
          <a:p>
            <a:r>
              <a:rPr lang="en-US"/>
              <a:t>PBL Course Name: Object Oriented Programming through C++(2501CS08)     REVIEW-1</a:t>
            </a:r>
            <a:endParaRPr lang="en-US" dirty="0"/>
          </a:p>
        </p:txBody>
      </p:sp>
      <p:sp>
        <p:nvSpPr>
          <p:cNvPr id="5" name="Slide Number Placeholder 3">
            <a:extLst>
              <a:ext uri="{A59E037D-D639-4F65-9477-94A0EBCDC4E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C0A76B5-951D-4394-8F2D-A4E34AC06D08}"/>
              </a:ext>
            </a:extLst>
          </p:cNvPr>
          <p:cNvSpPr>
            <a:spLocks noGrp="1"/>
          </p:cNvSpPr>
          <p:nvPr>
            <p:ph type="sldNum" sz="quarter" idx="12"/>
          </p:nvPr>
        </p:nvSpPr>
        <p:spPr>
          <a:xfrm>
            <a:off x="10272464" y="6356350"/>
            <a:ext cx="1081336" cy="365125"/>
          </a:xfrm>
        </p:spPr>
        <p:txBody>
          <a:bodyPr rtlCol="0"/>
          <a:lstStyle/>
          <a:p>
            <a:fld id="{D9C5B093-D3DD-4808-813A-F58BF8E67773}" type="slidenum">
              <a:t>‹#›</a:t>
            </a:fld>
            <a:endParaRPr lang="en-US" dirty="0"/>
          </a:p>
        </p:txBody>
      </p:sp>
    </p:spTree>
    <p:extLst>
      <p:ext uri="{917857EF-1D39-4225-A829-037EB1D2793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85117106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Master1">
    <p:bg>
      <p:bgRef idx="1001">
        <a:schemeClr val="bg1"/>
      </p:bgRef>
    </p:bg>
    <p:spTree>
      <p:nvGrpSpPr>
        <p:cNvPr id="1" name=""/>
        <p:cNvGrpSpPr/>
        <p:nvPr/>
      </p:nvGrpSpPr>
      <p:grpSpPr>
        <a:xfrm>
          <a:off x="0" y="0"/>
          <a:ext cx="0" cy="0"/>
          <a:chOff x="0" y="0"/>
          <a:chExt cx="0" cy="0"/>
        </a:xfrm>
      </p:grpSpPr>
      <p:sp>
        <p:nvSpPr>
          <p:cNvPr id="2" name="Title Placeholder 1">
            <a:extLst>
              <a:ext uri="{48EA39CE-E158-4B2A-99CD-545B14A22D3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313CDBB-BA82-4DED-973B-07A500BC5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76CEBE57-5AC2-4233-9D99-CAE469A4C85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438A3C5-0C27-48D9-9FD4-D716863017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5757E326-5F3E-43A1-830E-27FE2CE96B3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1FB99B2-34CB-4F0C-AABD-9CC4327C4B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lvl="0" algn="l">
              <a:defRPr lang="en-US" sz="1200" dirty="0">
                <a:solidFill>
                  <a:schemeClr val="tx1">
                    <a:tint val="75000"/>
                  </a:schemeClr>
                </a:solidFill>
              </a:defRPr>
            </a:lvl1pPr>
          </a:lstStyle>
          <a:p>
            <a:fld id="{022B5FF2-DAF6-4310-9A1D-797D39C1E342}" type="datetime1">
              <a:rPr lang="en-US" smtClean="0"/>
              <a:t>9/28/2026</a:t>
            </a:fld>
            <a:endParaRPr lang="en-US" dirty="0"/>
          </a:p>
        </p:txBody>
      </p:sp>
      <p:sp>
        <p:nvSpPr>
          <p:cNvPr id="5" name="Footer Placeholder 4">
            <a:extLst>
              <a:ext uri="{71906065-35B4-4935-A9D1-FD668DE1E59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7A5B885-A2DA-46BA-BC42-719D5CA3E2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lvl="0" algn="ctr">
              <a:defRPr lang="en-US" sz="1200" dirty="0">
                <a:solidFill>
                  <a:schemeClr val="tx1">
                    <a:tint val="75000"/>
                  </a:schemeClr>
                </a:solidFill>
              </a:defRPr>
            </a:lvl1pPr>
          </a:lstStyle>
          <a:p>
            <a:r>
              <a:rPr lang="en-US"/>
              <a:t>PBL Course Name: Object Oriented Programming through C++(2501CS08)     REVIEW-1</a:t>
            </a:r>
            <a:endParaRPr lang="en-US" dirty="0"/>
          </a:p>
        </p:txBody>
      </p:sp>
      <p:sp>
        <p:nvSpPr>
          <p:cNvPr id="6" name="Slide Number Placeholder 5">
            <a:extLst>
              <a:ext uri="{35F2950A-B1CB-4727-AB58-367C2C82CEA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979ABAE-2F0E-462F-935B-AC49E1A2F7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lvl="0" algn="r">
              <a:defRPr lang="en-US" sz="1200" dirty="0">
                <a:solidFill>
                  <a:schemeClr val="tx1">
                    <a:tint val="75000"/>
                  </a:schemeClr>
                </a:solidFill>
              </a:defRPr>
            </a:lvl1pPr>
          </a:lstStyle>
          <a:p>
            <a:fld id="{C0FA9481-3A84-418C-9FCC-1F8C2D158F80}" type="slidenum">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p:txStyles>
    <p:titleStyle>
      <a:lvl1pPr lvl="0" algn="l" rtl="0">
        <a:lnSpc>
          <a:spcPct val="90000"/>
        </a:lnSpc>
        <a:spcBef>
          <a:spcPct val="0"/>
        </a:spcBef>
        <a:buNone/>
        <a:defRPr lang="en-US" sz="4400" dirty="0">
          <a:solidFill>
            <a:schemeClr val="tx1"/>
          </a:solidFill>
          <a:latin typeface="+mj-lt"/>
        </a:defRPr>
      </a:lvl1pPr>
    </p:titleStyle>
    <p:bodyStyle>
      <a:lvl1pPr marL="228600" lvl="0" indent="-228600" algn="l" rtl="0">
        <a:lnSpc>
          <a:spcPct val="90000"/>
        </a:lnSpc>
        <a:spcBef>
          <a:spcPts val="1000"/>
        </a:spcBef>
        <a:buChar char="•"/>
        <a:defRPr lang="en-US" sz="2800" dirty="0">
          <a:solidFill>
            <a:schemeClr val="tx1"/>
          </a:solidFill>
          <a:latin typeface="+mn-lt"/>
        </a:defRPr>
      </a:lvl1pPr>
      <a:lvl2pPr marL="685800" lvl="1" indent="-228600" algn="l" rtl="0">
        <a:lnSpc>
          <a:spcPct val="90000"/>
        </a:lnSpc>
        <a:spcBef>
          <a:spcPts val="500"/>
        </a:spcBef>
        <a:buChar char="•"/>
        <a:defRPr lang="en-US" sz="2400" dirty="0">
          <a:solidFill>
            <a:schemeClr val="tx1"/>
          </a:solidFill>
          <a:latin typeface="+mn-lt"/>
        </a:defRPr>
      </a:lvl2pPr>
      <a:lvl3pPr marL="1143000" lvl="2" indent="-228600" algn="l" rtl="0">
        <a:lnSpc>
          <a:spcPct val="90000"/>
        </a:lnSpc>
        <a:spcBef>
          <a:spcPts val="500"/>
        </a:spcBef>
        <a:buChar char="•"/>
        <a:defRPr lang="en-US" sz="2000" dirty="0">
          <a:solidFill>
            <a:schemeClr val="tx1"/>
          </a:solidFill>
          <a:latin typeface="+mn-lt"/>
        </a:defRPr>
      </a:lvl3pPr>
      <a:lvl4pPr marL="1600200" lvl="3" indent="-228600" algn="l" rtl="0">
        <a:lnSpc>
          <a:spcPct val="90000"/>
        </a:lnSpc>
        <a:spcBef>
          <a:spcPts val="500"/>
        </a:spcBef>
        <a:buChar char="•"/>
        <a:defRPr lang="en-US" sz="1800" dirty="0">
          <a:solidFill>
            <a:schemeClr val="tx1"/>
          </a:solidFill>
          <a:latin typeface="+mn-lt"/>
        </a:defRPr>
      </a:lvl4pPr>
      <a:lvl5pPr marL="2057400" lvl="4" indent="-228600" algn="l" rtl="0">
        <a:lnSpc>
          <a:spcPct val="90000"/>
        </a:lnSpc>
        <a:spcBef>
          <a:spcPts val="500"/>
        </a:spcBef>
        <a:buChar char="•"/>
        <a:defRPr lang="en-US" sz="1800" dirty="0">
          <a:solidFill>
            <a:schemeClr val="tx1"/>
          </a:solidFill>
          <a:latin typeface="+mn-lt"/>
        </a:defRPr>
      </a:lvl5pPr>
      <a:lvl6pPr marL="2514600" lvl="5" indent="-228600" algn="l" rtl="0">
        <a:lnSpc>
          <a:spcPct val="90000"/>
        </a:lnSpc>
        <a:spcBef>
          <a:spcPts val="500"/>
        </a:spcBef>
        <a:buChar char="•"/>
        <a:defRPr lang="en-US" sz="1800" dirty="0">
          <a:solidFill>
            <a:schemeClr val="tx1"/>
          </a:solidFill>
          <a:latin typeface="+mn-lt"/>
        </a:defRPr>
      </a:lvl6pPr>
      <a:lvl7pPr marL="2971800" lvl="6" indent="-228600" algn="l" rtl="0">
        <a:lnSpc>
          <a:spcPct val="90000"/>
        </a:lnSpc>
        <a:spcBef>
          <a:spcPts val="500"/>
        </a:spcBef>
        <a:buChar char="•"/>
        <a:defRPr lang="en-US" sz="1800" dirty="0">
          <a:solidFill>
            <a:schemeClr val="tx1"/>
          </a:solidFill>
          <a:latin typeface="+mn-lt"/>
        </a:defRPr>
      </a:lvl7pPr>
      <a:lvl8pPr marL="3429000" lvl="7" indent="-228600" algn="l" rtl="0">
        <a:lnSpc>
          <a:spcPct val="90000"/>
        </a:lnSpc>
        <a:spcBef>
          <a:spcPts val="500"/>
        </a:spcBef>
        <a:buChar char="•"/>
        <a:defRPr lang="en-US" sz="1800" dirty="0">
          <a:solidFill>
            <a:schemeClr val="tx1"/>
          </a:solidFill>
          <a:latin typeface="+mn-lt"/>
        </a:defRPr>
      </a:lvl8pPr>
      <a:lvl9pPr marL="3886200" lvl="8" indent="-228600" algn="l" rtl="0">
        <a:lnSpc>
          <a:spcPct val="90000"/>
        </a:lnSpc>
        <a:spcBef>
          <a:spcPts val="500"/>
        </a:spcBef>
        <a:buChar char="•"/>
        <a:defRPr lang="en-US" sz="1800" dirty="0">
          <a:solidFill>
            <a:schemeClr val="tx1"/>
          </a:solidFill>
          <a:latin typeface="+mn-lt"/>
        </a:defRPr>
      </a:lvl9pPr>
    </p:bodyStyle>
    <p:otherStyle>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1">
    <p:bg>
      <p:bgPr>
        <a:solidFill>
          <a:schemeClr val="bg1"/>
        </a:solidFill>
        <a:effectLst/>
      </p:bgPr>
    </p:bg>
    <p:spTree>
      <p:nvGrpSpPr>
        <p:cNvPr id="1" name=""/>
        <p:cNvGrpSpPr/>
        <p:nvPr/>
      </p:nvGrpSpPr>
      <p:grpSpPr>
        <a:xfrm>
          <a:off x="0" y="0"/>
          <a:ext cx="0" cy="0"/>
          <a:chOff x="0" y="0"/>
          <a:chExt cx="0" cy="0"/>
        </a:xfrm>
      </p:grpSpPr>
      <p:sp>
        <p:nvSpPr>
          <p:cNvPr id="2" name="Title 1">
            <a:extLst>
              <a:ext uri="{5173A155-D39B-4A4B-8D04-AEDF7C74512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5635022-F8A5-4229-B18F-290C3D3C64FB}"/>
              </a:ext>
            </a:extLst>
          </p:cNvPr>
          <p:cNvSpPr txBox="1"/>
          <p:nvPr/>
        </p:nvSpPr>
        <p:spPr>
          <a:xfrm>
            <a:off x="1055440" y="1700808"/>
            <a:ext cx="10696612" cy="508991"/>
          </a:xfrm>
          <a:prstGeom prst="rect">
            <a:avLst/>
          </a:prstGeom>
        </p:spPr>
        <p:txBody>
          <a:bodyPr vert="horz" lIns="91440" tIns="45720" rIns="91440" bIns="45720" rtlCol="0" anchor="b">
            <a:noAutofit/>
          </a:bodyPr>
          <a:lstStyle/>
          <a:p>
            <a:pPr lvl="0" algn="ctr">
              <a:lnSpc>
                <a:spcPct val="90000"/>
              </a:lnSpc>
              <a:spcBef>
                <a:spcPct val="0"/>
              </a:spcBef>
            </a:pPr>
            <a:endParaRPr lang="en-US" sz="4000" dirty="0">
              <a:solidFill>
                <a:srgbClr val="00B050"/>
              </a:solidFill>
              <a:latin typeface="Arial Rounded MT Bold"/>
            </a:endParaRPr>
          </a:p>
        </p:txBody>
      </p:sp>
      <p:sp>
        <p:nvSpPr>
          <p:cNvPr id="4" name="Title 1">
            <a:extLst>
              <a:ext uri="{FF2B5EF4-FFF2-40B4-BE49-F238E27FC236}">
                <a16:creationId xmlns:a16="http://schemas.microsoft.com/office/drawing/2014/main" id="{BB2A8C70-3A77-94EC-FC3D-FDF5B598157E}"/>
              </a:ext>
              <a:ext uri="{20663F85-F48B-43E1-96BA-3B1BE53937F7}">
                <a16:creationId xmlns:lc="http://schemas.openxmlformats.org/drawingml/2006/lockedCanvas"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082DE41-6288-42A5-A437-B3C890B5FD67}"/>
              </a:ext>
            </a:extLst>
          </p:cNvPr>
          <p:cNvSpPr txBox="1"/>
          <p:nvPr/>
        </p:nvSpPr>
        <p:spPr>
          <a:xfrm>
            <a:off x="914400" y="2864392"/>
            <a:ext cx="10696612" cy="3612607"/>
          </a:xfrm>
          <a:prstGeom prst="rect">
            <a:avLst/>
          </a:prstGeom>
        </p:spPr>
        <p:txBody>
          <a:bodyPr vert="horz" lIns="91440" tIns="45720" rIns="91440" bIns="45720" rtlCol="0" anchor="b">
            <a:noAutofit/>
          </a:bodyPr>
          <a:ls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a:lstStyle>
          <a:p>
            <a:pPr lvl="0">
              <a:lnSpc>
                <a:spcPct val="90000"/>
              </a:lnSpc>
              <a:spcBef>
                <a:spcPct val="0"/>
              </a:spcBef>
            </a:pPr>
            <a:r>
              <a:rPr lang="en-US" sz="3200" dirty="0">
                <a:solidFill>
                  <a:srgbClr val="FF0000"/>
                </a:solidFill>
                <a:latin typeface="Times New Roman" panose="02020603050405020304" pitchFamily="18" charset="0"/>
                <a:cs typeface="Times New Roman" panose="02020603050405020304" pitchFamily="18" charset="0"/>
              </a:rPr>
              <a:t>Course Instructor:                              Presented by:</a:t>
            </a:r>
          </a:p>
          <a:p>
            <a:pPr lvl="0">
              <a:lnSpc>
                <a:spcPct val="90000"/>
              </a:lnSpc>
              <a:spcBef>
                <a:spcPct val="0"/>
              </a:spcBef>
            </a:pPr>
            <a:r>
              <a:rPr lang="en-US" b="1" dirty="0" err="1">
                <a:solidFill>
                  <a:srgbClr val="0000FF"/>
                </a:solidFill>
                <a:latin typeface="Times New Roman" panose="02020603050405020304" pitchFamily="18" charset="0"/>
                <a:cs typeface="Times New Roman" panose="02020603050405020304" pitchFamily="18" charset="0"/>
              </a:rPr>
              <a:t>Thoranti</a:t>
            </a:r>
            <a:r>
              <a:rPr lang="en-US" b="1" dirty="0">
                <a:solidFill>
                  <a:srgbClr val="0000FF"/>
                </a:solidFill>
                <a:latin typeface="Times New Roman" panose="02020603050405020304" pitchFamily="18" charset="0"/>
                <a:cs typeface="Times New Roman" panose="02020603050405020304" pitchFamily="18" charset="0"/>
              </a:rPr>
              <a:t> Vijaya Lakshmi , </a:t>
            </a:r>
            <a:r>
              <a:rPr lang="en-US" b="1" dirty="0" err="1">
                <a:solidFill>
                  <a:srgbClr val="0000FF"/>
                </a:solidFill>
                <a:latin typeface="Times New Roman" panose="02020603050405020304" pitchFamily="18" charset="0"/>
                <a:cs typeface="Times New Roman" panose="02020603050405020304" pitchFamily="18" charset="0"/>
              </a:rPr>
              <a:t>M.Tech</a:t>
            </a:r>
            <a:r>
              <a:rPr lang="en-US" b="1" dirty="0">
                <a:solidFill>
                  <a:srgbClr val="0000FF"/>
                </a:solidFill>
                <a:latin typeface="Times New Roman" panose="02020603050405020304" pitchFamily="18" charset="0"/>
                <a:cs typeface="Times New Roman" panose="02020603050405020304" pitchFamily="18" charset="0"/>
              </a:rPr>
              <a:t> (</a:t>
            </a:r>
            <a:r>
              <a:rPr lang="en-US" b="1" dirty="0" err="1">
                <a:solidFill>
                  <a:srgbClr val="0000FF"/>
                </a:solidFill>
                <a:latin typeface="Times New Roman" panose="02020603050405020304" pitchFamily="18" charset="0"/>
                <a:cs typeface="Times New Roman" panose="02020603050405020304" pitchFamily="18" charset="0"/>
              </a:rPr>
              <a:t>Ph.D</a:t>
            </a:r>
            <a:r>
              <a:rPr lang="en-US" b="1" dirty="0">
                <a:solidFill>
                  <a:srgbClr val="0000FF"/>
                </a:solidFill>
                <a:latin typeface="Times New Roman" panose="02020603050405020304" pitchFamily="18" charset="0"/>
                <a:cs typeface="Times New Roman" panose="02020603050405020304" pitchFamily="18" charset="0"/>
              </a:rPr>
              <a:t>),</a:t>
            </a:r>
            <a:r>
              <a:rPr lang="en-US" sz="3600" b="1" dirty="0">
                <a:solidFill>
                  <a:srgbClr val="0000FF"/>
                </a:solidFill>
                <a:latin typeface="Times New Roman" panose="02020603050405020304" pitchFamily="18" charset="0"/>
                <a:cs typeface="Times New Roman" panose="02020603050405020304" pitchFamily="18" charset="0"/>
              </a:rPr>
              <a:t>	                               			</a:t>
            </a:r>
          </a:p>
          <a:p>
            <a:pPr lvl="0">
              <a:lnSpc>
                <a:spcPct val="90000"/>
              </a:lnSpc>
              <a:spcBef>
                <a:spcPct val="0"/>
              </a:spcBef>
            </a:pPr>
            <a:r>
              <a:rPr lang="en-US" b="1" dirty="0">
                <a:solidFill>
                  <a:srgbClr val="0000FF"/>
                </a:solidFill>
                <a:latin typeface="Times New Roman" panose="02020603050405020304" pitchFamily="18" charset="0"/>
                <a:cs typeface="Times New Roman" panose="02020603050405020304" pitchFamily="18" charset="0"/>
              </a:rPr>
              <a:t>ASSISTANT PROFESSOR, </a:t>
            </a:r>
            <a:endParaRPr lang="en-US" sz="3600" b="1" dirty="0">
              <a:solidFill>
                <a:srgbClr val="0000FF"/>
              </a:solidFill>
              <a:latin typeface="Times New Roman" panose="02020603050405020304" pitchFamily="18" charset="0"/>
              <a:cs typeface="Times New Roman" panose="02020603050405020304" pitchFamily="18" charset="0"/>
            </a:endParaRPr>
          </a:p>
          <a:p>
            <a:pPr lvl="0">
              <a:lnSpc>
                <a:spcPct val="90000"/>
              </a:lnSpc>
              <a:spcBef>
                <a:spcPct val="0"/>
              </a:spcBef>
            </a:pPr>
            <a:r>
              <a:rPr lang="en-US" b="1" dirty="0">
                <a:solidFill>
                  <a:srgbClr val="0000FF"/>
                </a:solidFill>
                <a:latin typeface="Times New Roman" panose="02020603050405020304" pitchFamily="18" charset="0"/>
                <a:cs typeface="Times New Roman" panose="02020603050405020304" pitchFamily="18" charset="0"/>
              </a:rPr>
              <a:t>AIML DEPTARTMENT</a:t>
            </a:r>
          </a:p>
        </p:txBody>
      </p:sp>
      <p:graphicFrame>
        <p:nvGraphicFramePr>
          <p:cNvPr id="6" name="Table 5">
            <a:extLst>
              <a:ext uri="{FF2B5EF4-FFF2-40B4-BE49-F238E27FC236}">
                <a16:creationId xmlns:a16="http://schemas.microsoft.com/office/drawing/2014/main" id="{C7F159A1-205A-9A84-5F29-BAC09BFFE55A}"/>
              </a:ext>
            </a:extLst>
          </p:cNvPr>
          <p:cNvGraphicFramePr>
            <a:graphicFrameLocks noGrp="1"/>
          </p:cNvGraphicFramePr>
          <p:nvPr>
            <p:extLst>
              <p:ext uri="{D42A27DB-BD31-4B8C-83A1-F6EECF244321}">
                <p14:modId xmlns:p14="http://schemas.microsoft.com/office/powerpoint/2010/main" val="4165037556"/>
              </p:ext>
            </p:extLst>
          </p:nvPr>
        </p:nvGraphicFramePr>
        <p:xfrm>
          <a:off x="6794635" y="5410200"/>
          <a:ext cx="4927600" cy="1219200"/>
        </p:xfrm>
        <a:graphic>
          <a:graphicData uri="http://schemas.openxmlformats.org/drawingml/2006/table">
            <a:tbl>
              <a:tblPr>
                <a:tableStyleId>{2D5ABB26-0587-4C30-8999-92F81FD0307C}</a:tableStyleId>
              </a:tblPr>
              <a:tblGrid>
                <a:gridCol w="1465244">
                  <a:extLst>
                    <a:ext uri="{9D8B030D-6E8A-4147-A177-3AD203B41FA5}">
                      <a16:colId xmlns:a16="http://schemas.microsoft.com/office/drawing/2014/main" val="4008646060"/>
                    </a:ext>
                  </a:extLst>
                </a:gridCol>
                <a:gridCol w="3462356">
                  <a:extLst>
                    <a:ext uri="{9D8B030D-6E8A-4147-A177-3AD203B41FA5}">
                      <a16:colId xmlns:a16="http://schemas.microsoft.com/office/drawing/2014/main" val="4177372121"/>
                    </a:ext>
                  </a:extLst>
                </a:gridCol>
              </a:tblGrid>
              <a:tr h="304800">
                <a:tc>
                  <a:txBody>
                    <a:bodyPr/>
                    <a:lstStyle/>
                    <a:p>
                      <a:pPr algn="ctr" fontAlgn="ctr">
                        <a:buNone/>
                      </a:pPr>
                      <a:r>
                        <a:rPr lang="en-IN" sz="1600" b="1" i="0" u="none" strike="noStrike" dirty="0">
                          <a:solidFill>
                            <a:srgbClr val="7030A0"/>
                          </a:solidFill>
                          <a:effectLst/>
                          <a:latin typeface="Times New Roman" panose="02020603050405020304" pitchFamily="18" charset="0"/>
                          <a:cs typeface="Times New Roman" panose="02020603050405020304" pitchFamily="18" charset="0"/>
                        </a:rPr>
                        <a:t>25B11AI875</a:t>
                      </a:r>
                    </a:p>
                  </a:txBody>
                  <a:tcPr marL="6350" marR="6350" marT="6350" anchor="ctr"/>
                </a:tc>
                <a:tc>
                  <a:txBody>
                    <a:bodyPr/>
                    <a:lstStyle/>
                    <a:p>
                      <a:pPr algn="l" fontAlgn="ctr">
                        <a:buNone/>
                      </a:pPr>
                      <a:r>
                        <a:rPr lang="en-IN" sz="1600" b="1" i="0" u="none" strike="noStrike" dirty="0">
                          <a:solidFill>
                            <a:srgbClr val="7030A0"/>
                          </a:solidFill>
                          <a:effectLst/>
                          <a:latin typeface="Times New Roman" panose="02020603050405020304" pitchFamily="18" charset="0"/>
                          <a:cs typeface="Times New Roman" panose="02020603050405020304" pitchFamily="18" charset="0"/>
                        </a:rPr>
                        <a:t>PALAMANI CHENCHU MAHESH</a:t>
                      </a:r>
                    </a:p>
                  </a:txBody>
                  <a:tcPr marL="6350" marR="6350" marT="6350" anchor="ctr"/>
                </a:tc>
                <a:extLst>
                  <a:ext uri="{0D108BD9-81ED-4DB2-BD59-A6C34878D82A}">
                    <a16:rowId xmlns:a16="http://schemas.microsoft.com/office/drawing/2014/main" val="4029920218"/>
                  </a:ext>
                </a:extLst>
              </a:tr>
              <a:tr h="304800">
                <a:tc>
                  <a:txBody>
                    <a:bodyPr/>
                    <a:lstStyle/>
                    <a:p>
                      <a:pPr algn="ctr" fontAlgn="ctr">
                        <a:buNone/>
                      </a:pPr>
                      <a:r>
                        <a:rPr lang="en-IN" sz="1600" b="0" i="0" u="none" strike="noStrike" dirty="0">
                          <a:solidFill>
                            <a:srgbClr val="7030A0"/>
                          </a:solidFill>
                          <a:effectLst/>
                          <a:latin typeface="Times New Roman" panose="02020603050405020304" pitchFamily="18" charset="0"/>
                          <a:cs typeface="Times New Roman" panose="02020603050405020304" pitchFamily="18" charset="0"/>
                        </a:rPr>
                        <a:t>25B11AI018</a:t>
                      </a:r>
                    </a:p>
                  </a:txBody>
                  <a:tcPr marL="6350" marR="6350" marT="6350" anchor="ctr"/>
                </a:tc>
                <a:tc>
                  <a:txBody>
                    <a:bodyPr/>
                    <a:lstStyle/>
                    <a:p>
                      <a:pPr algn="l" fontAlgn="ctr">
                        <a:buNone/>
                      </a:pPr>
                      <a:r>
                        <a:rPr lang="en-IN" sz="1600" b="0" i="0" u="none" strike="noStrike" dirty="0">
                          <a:solidFill>
                            <a:srgbClr val="7030A0"/>
                          </a:solidFill>
                          <a:effectLst/>
                          <a:latin typeface="Times New Roman" panose="02020603050405020304" pitchFamily="18" charset="0"/>
                          <a:cs typeface="Times New Roman" panose="02020603050405020304" pitchFamily="18" charset="0"/>
                        </a:rPr>
                        <a:t>AKSHINTALA DEVI SRI CHARAN</a:t>
                      </a:r>
                    </a:p>
                  </a:txBody>
                  <a:tcPr marL="6350" marR="6350" marT="6350" anchor="ctr"/>
                </a:tc>
                <a:extLst>
                  <a:ext uri="{0D108BD9-81ED-4DB2-BD59-A6C34878D82A}">
                    <a16:rowId xmlns:a16="http://schemas.microsoft.com/office/drawing/2014/main" val="2060361553"/>
                  </a:ext>
                </a:extLst>
              </a:tr>
              <a:tr h="304800">
                <a:tc>
                  <a:txBody>
                    <a:bodyPr/>
                    <a:lstStyle/>
                    <a:p>
                      <a:pPr algn="ctr" fontAlgn="ctr">
                        <a:buNone/>
                      </a:pPr>
                      <a:r>
                        <a:rPr lang="en-IN" sz="1600" b="0" i="0" u="none" strike="noStrike" dirty="0">
                          <a:solidFill>
                            <a:srgbClr val="7030A0"/>
                          </a:solidFill>
                          <a:effectLst/>
                          <a:latin typeface="Times New Roman" panose="02020603050405020304" pitchFamily="18" charset="0"/>
                          <a:cs typeface="Times New Roman" panose="02020603050405020304" pitchFamily="18" charset="0"/>
                        </a:rPr>
                        <a:t>25B11AI955</a:t>
                      </a:r>
                    </a:p>
                  </a:txBody>
                  <a:tcPr marL="6350" marR="6350" marT="6350" anchor="ctr"/>
                </a:tc>
                <a:tc>
                  <a:txBody>
                    <a:bodyPr/>
                    <a:lstStyle/>
                    <a:p>
                      <a:pPr algn="l" fontAlgn="ctr">
                        <a:buNone/>
                      </a:pPr>
                      <a:r>
                        <a:rPr lang="en-IN" sz="1600" b="0" i="0" u="none" strike="noStrike" dirty="0">
                          <a:solidFill>
                            <a:srgbClr val="7030A0"/>
                          </a:solidFill>
                          <a:effectLst/>
                          <a:latin typeface="Times New Roman" panose="02020603050405020304" pitchFamily="18" charset="0"/>
                          <a:cs typeface="Times New Roman" panose="02020603050405020304" pitchFamily="18" charset="0"/>
                        </a:rPr>
                        <a:t>PILLI LOKESH</a:t>
                      </a:r>
                    </a:p>
                  </a:txBody>
                  <a:tcPr marL="6350" marR="6350" marT="6350" anchor="ctr"/>
                </a:tc>
                <a:extLst>
                  <a:ext uri="{0D108BD9-81ED-4DB2-BD59-A6C34878D82A}">
                    <a16:rowId xmlns:a16="http://schemas.microsoft.com/office/drawing/2014/main" val="2251409142"/>
                  </a:ext>
                </a:extLst>
              </a:tr>
              <a:tr h="304800">
                <a:tc>
                  <a:txBody>
                    <a:bodyPr/>
                    <a:lstStyle/>
                    <a:p>
                      <a:pPr algn="ctr" fontAlgn="ctr">
                        <a:buNone/>
                      </a:pPr>
                      <a:r>
                        <a:rPr lang="en-IN" sz="1600" b="0" i="0" u="none" strike="noStrike" dirty="0">
                          <a:solidFill>
                            <a:srgbClr val="7030A0"/>
                          </a:solidFill>
                          <a:effectLst/>
                          <a:latin typeface="Times New Roman" panose="02020603050405020304" pitchFamily="18" charset="0"/>
                          <a:cs typeface="Times New Roman" panose="02020603050405020304" pitchFamily="18" charset="0"/>
                        </a:rPr>
                        <a:t>26B21AI004</a:t>
                      </a:r>
                    </a:p>
                  </a:txBody>
                  <a:tcPr marL="6350" marR="6350" marT="6350" anchor="ctr"/>
                </a:tc>
                <a:tc>
                  <a:txBody>
                    <a:bodyPr/>
                    <a:lstStyle/>
                    <a:p>
                      <a:pPr algn="l" fontAlgn="ctr">
                        <a:buNone/>
                      </a:pPr>
                      <a:r>
                        <a:rPr lang="en-IN" sz="1600" b="0" i="0" u="none" strike="noStrike" dirty="0">
                          <a:solidFill>
                            <a:srgbClr val="7030A0"/>
                          </a:solidFill>
                          <a:effectLst/>
                          <a:latin typeface="Times New Roman" panose="02020603050405020304" pitchFamily="18" charset="0"/>
                          <a:cs typeface="Times New Roman" panose="02020603050405020304" pitchFamily="18" charset="0"/>
                        </a:rPr>
                        <a:t>GORLI KUSA RAJU</a:t>
                      </a:r>
                    </a:p>
                  </a:txBody>
                  <a:tcPr marL="6350" marR="6350" marT="6350" anchor="ctr"/>
                </a:tc>
                <a:extLst>
                  <a:ext uri="{0D108BD9-81ED-4DB2-BD59-A6C34878D82A}">
                    <a16:rowId xmlns:a16="http://schemas.microsoft.com/office/drawing/2014/main" val="3846112601"/>
                  </a:ext>
                </a:extLst>
              </a:tr>
            </a:tbl>
          </a:graphicData>
        </a:graphic>
      </p:graphicFrame>
      <p:sp>
        <p:nvSpPr>
          <p:cNvPr id="5" name="TextBox 4">
            <a:extLst>
              <a:ext uri="{FF2B5EF4-FFF2-40B4-BE49-F238E27FC236}">
                <a16:creationId xmlns:a16="http://schemas.microsoft.com/office/drawing/2014/main" id="{875FB2D6-05D2-91DD-EE79-C561E77BCE48}"/>
              </a:ext>
            </a:extLst>
          </p:cNvPr>
          <p:cNvSpPr txBox="1"/>
          <p:nvPr/>
        </p:nvSpPr>
        <p:spPr>
          <a:xfrm>
            <a:off x="2209800" y="3429000"/>
            <a:ext cx="8001000" cy="707886"/>
          </a:xfrm>
          <a:prstGeom prst="rect">
            <a:avLst/>
          </a:prstGeom>
          <a:noFill/>
        </p:spPr>
        <p:txBody>
          <a:bodyPr wrap="square" rtlCol="0">
            <a:spAutoFit/>
          </a:bodyPr>
          <a:lstStyle/>
          <a:p>
            <a:r>
              <a:rPr lang="en-IN" sz="4000" b="1" dirty="0"/>
              <a:t>ATTENDANCE MARKING SYSTEM</a:t>
            </a:r>
          </a:p>
        </p:txBody>
      </p:sp>
      <p:sp>
        <p:nvSpPr>
          <p:cNvPr id="7" name="TextBox 6">
            <a:extLst>
              <a:ext uri="{FF2B5EF4-FFF2-40B4-BE49-F238E27FC236}">
                <a16:creationId xmlns:a16="http://schemas.microsoft.com/office/drawing/2014/main" id="{0954B804-4C37-C995-B6EC-247E4AD92769}"/>
              </a:ext>
            </a:extLst>
          </p:cNvPr>
          <p:cNvSpPr txBox="1"/>
          <p:nvPr/>
        </p:nvSpPr>
        <p:spPr>
          <a:xfrm>
            <a:off x="2590800" y="1828513"/>
            <a:ext cx="6858000" cy="1015663"/>
          </a:xfrm>
          <a:prstGeom prst="rect">
            <a:avLst/>
          </a:prstGeom>
          <a:noFill/>
        </p:spPr>
        <p:txBody>
          <a:bodyPr wrap="square">
            <a:spAutoFit/>
          </a:bodyPr>
          <a:lstStyle/>
          <a:p>
            <a:r>
              <a:rPr lang="en-IN" sz="2000" b="1" spc="-10" dirty="0">
                <a:solidFill>
                  <a:srgbClr val="002060"/>
                </a:solidFill>
                <a:latin typeface="Times New Roman" panose="02020603050405020304" pitchFamily="18" charset="0"/>
                <a:cs typeface="Times New Roman" panose="02020603050405020304" pitchFamily="18" charset="0"/>
              </a:rPr>
              <a:t>OBJECT ORIENTED PROGRAMMING THROUGH C++</a:t>
            </a:r>
          </a:p>
          <a:p>
            <a:r>
              <a:rPr lang="en-IN" sz="2000" spc="-10" dirty="0">
                <a:solidFill>
                  <a:srgbClr val="002060"/>
                </a:solidFill>
                <a:latin typeface="Times New Roman" panose="02020603050405020304" pitchFamily="18" charset="0"/>
                <a:cs typeface="Times New Roman" panose="02020603050405020304" pitchFamily="18" charset="0"/>
              </a:rPr>
              <a:t> </a:t>
            </a:r>
            <a:br>
              <a:rPr lang="en-IN" sz="2000" spc="-10" dirty="0">
                <a:solidFill>
                  <a:srgbClr val="002060"/>
                </a:solidFill>
                <a:latin typeface="Times New Roman" panose="02020603050405020304" pitchFamily="18" charset="0"/>
                <a:cs typeface="Times New Roman" panose="02020603050405020304" pitchFamily="18" charset="0"/>
              </a:rPr>
            </a:br>
            <a:r>
              <a:rPr lang="en-IN" sz="2000" spc="-10" dirty="0">
                <a:solidFill>
                  <a:srgbClr val="002060"/>
                </a:solidFill>
                <a:latin typeface="Times New Roman" panose="02020603050405020304" pitchFamily="18" charset="0"/>
                <a:cs typeface="Times New Roman" panose="02020603050405020304" pitchFamily="18" charset="0"/>
              </a:rPr>
              <a:t>                         </a:t>
            </a:r>
            <a:r>
              <a:rPr lang="en-IN" sz="2000" spc="-10" dirty="0">
                <a:solidFill>
                  <a:srgbClr val="FF0000"/>
                </a:solidFill>
                <a:latin typeface="Times New Roman" panose="02020603050405020304" pitchFamily="18" charset="0"/>
                <a:cs typeface="Times New Roman" panose="02020603050405020304" pitchFamily="18" charset="0"/>
              </a:rPr>
              <a:t>PROJECT REVIEW 1&amp;2</a:t>
            </a:r>
            <a:endParaRPr lang="en-IN" sz="2000" dirty="0">
              <a:solidFill>
                <a:srgbClr val="FF0000"/>
              </a:solidFill>
            </a:endParaRPr>
          </a:p>
        </p:txBody>
      </p:sp>
    </p:spTree>
    <p:extLst>
      <p:ext uri="{59DB2955-81A9-4330-9517-4CB607EFC6F5}">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8511710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p:txBody>
          <a:bodyPr>
            <a:normAutofit fontScale="62500" lnSpcReduction="20000"/>
          </a:bodyPr>
          <a:lstStyle/>
          <a:p>
            <a:pPr marL="914400" lvl="0" indent="-457200">
              <a:lnSpc>
                <a:spcPct val="150000"/>
              </a:lnSpc>
              <a:buFont typeface="Wingdings" panose="05000000000000000000" pitchFamily="2" charset="2"/>
              <a:buChar char="Ø"/>
            </a:pPr>
            <a:r>
              <a:rPr lang="en-IN" dirty="0"/>
              <a:t>Project Abstract </a:t>
            </a:r>
          </a:p>
          <a:p>
            <a:pPr marL="914400" lvl="0" indent="-457200">
              <a:lnSpc>
                <a:spcPct val="150000"/>
              </a:lnSpc>
              <a:buFont typeface="Wingdings" panose="05000000000000000000" pitchFamily="2" charset="2"/>
              <a:buChar char="Ø"/>
            </a:pPr>
            <a:r>
              <a:rPr lang="en-IN" dirty="0"/>
              <a:t>Problem Statement &amp; Objectives </a:t>
            </a:r>
          </a:p>
          <a:p>
            <a:pPr marL="914400" lvl="0" indent="-457200">
              <a:lnSpc>
                <a:spcPct val="150000"/>
              </a:lnSpc>
              <a:buFont typeface="Wingdings" panose="05000000000000000000" pitchFamily="2" charset="2"/>
              <a:buChar char="Ø"/>
            </a:pPr>
            <a:r>
              <a:rPr lang="en-IN" dirty="0"/>
              <a:t>Planned Modules / Functions </a:t>
            </a:r>
          </a:p>
          <a:p>
            <a:pPr marL="914400" lvl="0" indent="-457200">
              <a:lnSpc>
                <a:spcPct val="150000"/>
              </a:lnSpc>
              <a:buFont typeface="Wingdings" panose="05000000000000000000" pitchFamily="2" charset="2"/>
              <a:buChar char="Ø"/>
            </a:pPr>
            <a:r>
              <a:rPr lang="en-IN" dirty="0"/>
              <a:t>Users of the system </a:t>
            </a:r>
          </a:p>
          <a:p>
            <a:pPr marL="914400" lvl="0" indent="-457200">
              <a:lnSpc>
                <a:spcPct val="150000"/>
              </a:lnSpc>
              <a:buFont typeface="Wingdings" panose="05000000000000000000" pitchFamily="2" charset="2"/>
              <a:buChar char="Ø"/>
            </a:pPr>
            <a:r>
              <a:rPr lang="en-IN" dirty="0"/>
              <a:t>Modules/Functionalities</a:t>
            </a:r>
          </a:p>
          <a:p>
            <a:pPr marL="914400" lvl="0" indent="-457200">
              <a:lnSpc>
                <a:spcPct val="150000"/>
              </a:lnSpc>
              <a:buFont typeface="Wingdings" panose="05000000000000000000" pitchFamily="2" charset="2"/>
              <a:buChar char="Ø"/>
            </a:pPr>
            <a:r>
              <a:rPr lang="en-IN" dirty="0"/>
              <a:t>Architecture Diagram</a:t>
            </a:r>
          </a:p>
          <a:p>
            <a:pPr marL="914400" lvl="0" indent="-457200">
              <a:lnSpc>
                <a:spcPct val="150000"/>
              </a:lnSpc>
              <a:buFont typeface="Wingdings" panose="05000000000000000000" pitchFamily="2" charset="2"/>
              <a:buChar char="Ø"/>
            </a:pPr>
            <a:r>
              <a:rPr lang="en-US" dirty="0"/>
              <a:t>ER Diagram / DFD</a:t>
            </a:r>
          </a:p>
          <a:p>
            <a:pPr marL="914400" lvl="0" indent="-457200">
              <a:lnSpc>
                <a:spcPct val="150000"/>
              </a:lnSpc>
              <a:buFont typeface="Wingdings" panose="05000000000000000000" pitchFamily="2" charset="2"/>
              <a:buChar char="Ø"/>
            </a:pPr>
            <a:r>
              <a:rPr lang="en-US" dirty="0"/>
              <a:t>Planning and Timeline Diagram</a:t>
            </a:r>
          </a:p>
          <a:p>
            <a:pPr marL="914400" lvl="0" indent="-457200">
              <a:lnSpc>
                <a:spcPct val="150000"/>
              </a:lnSpc>
              <a:buFont typeface="Wingdings" panose="05000000000000000000" pitchFamily="2" charset="2"/>
              <a:buChar char="Ø"/>
            </a:pPr>
            <a:r>
              <a:rPr lang="en-US" dirty="0"/>
              <a:t>Role of each individual</a:t>
            </a: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endParaRPr lang="en-US" dirty="0"/>
          </a:p>
        </p:txBody>
      </p:sp>
      <p:sp>
        <p:nvSpPr>
          <p:cNvPr id="4" name="Footer Placeholder 3">
            <a:extLst>
              <a:ext uri="{FF2B5EF4-FFF2-40B4-BE49-F238E27FC236}">
                <a16:creationId xmlns:a16="http://schemas.microsoft.com/office/drawing/2014/main" id="{6C1A7CD3-FDC3-32A7-74E1-968EEFC4A74C}"/>
              </a:ext>
            </a:extLst>
          </p:cNvPr>
          <p:cNvSpPr>
            <a:spLocks noGrp="1"/>
          </p:cNvSpPr>
          <p:nvPr>
            <p:ph type="ftr" sz="quarter" idx="2"/>
          </p:nvPr>
        </p:nvSpPr>
        <p:spPr/>
        <p:txBody>
          <a:bodyPr/>
          <a:lstStyle/>
          <a:p>
            <a:r>
              <a:rPr lang="en-US" dirty="0"/>
              <a:t>PBL Course Name: Object Oriented Programming through C++(2501CS08)     REVIEW-1</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2</a:t>
            </a:fld>
            <a:endParaRPr lang="en-IN" dirty="0"/>
          </a:p>
        </p:txBody>
      </p:sp>
      <p:grpSp>
        <p:nvGrpSpPr>
          <p:cNvPr id="8" name="object 3">
            <a:extLst>
              <a:ext uri="{FF2B5EF4-FFF2-40B4-BE49-F238E27FC236}">
                <a16:creationId xmlns:a16="http://schemas.microsoft.com/office/drawing/2014/main" id="{FAABBED6-BEC7-FA56-AE1A-403DE9324A65}"/>
              </a:ext>
            </a:extLst>
          </p:cNvPr>
          <p:cNvGrpSpPr/>
          <p:nvPr/>
        </p:nvGrpSpPr>
        <p:grpSpPr>
          <a:xfrm>
            <a:off x="3886200" y="296802"/>
            <a:ext cx="5103904" cy="1556416"/>
            <a:chOff x="2648188" y="47148"/>
            <a:chExt cx="5103904" cy="1198311"/>
          </a:xfrm>
        </p:grpSpPr>
        <p:pic>
          <p:nvPicPr>
            <p:cNvPr id="9" name="object 4">
              <a:extLst>
                <a:ext uri="{FF2B5EF4-FFF2-40B4-BE49-F238E27FC236}">
                  <a16:creationId xmlns:a16="http://schemas.microsoft.com/office/drawing/2014/main" id="{82B29CC3-9466-007D-4899-F6C5B232A1AF}"/>
                </a:ext>
              </a:extLst>
            </p:cNvPr>
            <p:cNvPicPr/>
            <p:nvPr/>
          </p:nvPicPr>
          <p:blipFill>
            <a:blip r:embed="rId2" cstate="print"/>
            <a:stretch>
              <a:fillRect/>
            </a:stretch>
          </p:blipFill>
          <p:spPr>
            <a:xfrm>
              <a:off x="2648188" y="47148"/>
              <a:ext cx="5103904" cy="1198311"/>
            </a:xfrm>
            <a:prstGeom prst="rect">
              <a:avLst/>
            </a:prstGeom>
          </p:spPr>
        </p:pic>
        <p:pic>
          <p:nvPicPr>
            <p:cNvPr id="10" name="object 5">
              <a:extLst>
                <a:ext uri="{FF2B5EF4-FFF2-40B4-BE49-F238E27FC236}">
                  <a16:creationId xmlns:a16="http://schemas.microsoft.com/office/drawing/2014/main" id="{EECA9CAE-8974-C9E4-0C13-88DCBC7132E2}"/>
                </a:ext>
              </a:extLst>
            </p:cNvPr>
            <p:cNvPicPr/>
            <p:nvPr/>
          </p:nvPicPr>
          <p:blipFill>
            <a:blip r:embed="rId3" cstate="print"/>
            <a:stretch>
              <a:fillRect/>
            </a:stretch>
          </p:blipFill>
          <p:spPr>
            <a:xfrm>
              <a:off x="2703195" y="86439"/>
              <a:ext cx="4997767" cy="1092279"/>
            </a:xfrm>
            <a:prstGeom prst="rect">
              <a:avLst/>
            </a:prstGeom>
          </p:spPr>
        </p:pic>
        <p:pic>
          <p:nvPicPr>
            <p:cNvPr id="11" name="object 6">
              <a:extLst>
                <a:ext uri="{FF2B5EF4-FFF2-40B4-BE49-F238E27FC236}">
                  <a16:creationId xmlns:a16="http://schemas.microsoft.com/office/drawing/2014/main" id="{764261B1-188F-58A5-506B-A7137D961CFC}"/>
                </a:ext>
              </a:extLst>
            </p:cNvPr>
            <p:cNvPicPr/>
            <p:nvPr/>
          </p:nvPicPr>
          <p:blipFill>
            <a:blip r:embed="rId4" cstate="print"/>
            <a:stretch>
              <a:fillRect/>
            </a:stretch>
          </p:blipFill>
          <p:spPr>
            <a:xfrm>
              <a:off x="2828925" y="243549"/>
              <a:ext cx="4585268" cy="522565"/>
            </a:xfrm>
            <a:prstGeom prst="rect">
              <a:avLst/>
            </a:prstGeom>
          </p:spPr>
        </p:pic>
        <p:sp>
          <p:nvSpPr>
            <p:cNvPr id="12" name="object 7">
              <a:extLst>
                <a:ext uri="{FF2B5EF4-FFF2-40B4-BE49-F238E27FC236}">
                  <a16:creationId xmlns:a16="http://schemas.microsoft.com/office/drawing/2014/main" id="{925D68FB-9D4A-1CB5-9F11-FA8F6A30F49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GB" dirty="0">
                  <a:solidFill>
                    <a:srgbClr val="0000FF"/>
                  </a:solidFill>
                  <a:latin typeface="Maiandra GD" panose="020E0502030308020204" pitchFamily="34" charset="0"/>
                  <a:cs typeface="Aharoni" panose="02010803020104030203" pitchFamily="2" charset="-79"/>
                </a:rPr>
                <a:t>                       </a:t>
              </a:r>
              <a:r>
                <a:rPr lang="en-GB" sz="3200" b="1" dirty="0">
                  <a:solidFill>
                    <a:schemeClr val="bg2">
                      <a:lumMod val="25000"/>
                    </a:schemeClr>
                  </a:solidFill>
                  <a:latin typeface="Maiandra GD" panose="020E0502030308020204" pitchFamily="34" charset="0"/>
                  <a:cs typeface="Aharoni" panose="02010803020104030203" pitchFamily="2" charset="-79"/>
                </a:rPr>
                <a:t>Content</a:t>
              </a:r>
            </a:p>
            <a:p>
              <a:endParaRPr dirty="0"/>
            </a:p>
          </p:txBody>
        </p:sp>
      </p:grpSp>
    </p:spTree>
    <p:extLst>
      <p:ext uri="{BB962C8B-B14F-4D97-AF65-F5344CB8AC3E}">
        <p14:creationId xmlns:p14="http://schemas.microsoft.com/office/powerpoint/2010/main" val="1780977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p:txBody>
          <a:bodyPr>
            <a:normAutofit/>
          </a:bodyPr>
          <a:lstStyle/>
          <a:p>
            <a:pPr algn="just"/>
            <a:r>
              <a:rPr lang="en-IN" dirty="0"/>
              <a:t>The Attendance Marking System is a C++ based application developed to automate student attendance management. The system allows the user to store student details, mark attendance, search for students, and display attendance records. calculates attendance percentage, and identifies students with attendance below 75%.  It replaces manual attendance registers with a simple and efficient computerized solution. The project uses Object-Oriented Programming concepts such as classes, objects, encapsulation, and member functions to provide a structured and reusable design.</a:t>
            </a:r>
          </a:p>
          <a:p>
            <a:pPr algn="just"/>
            <a:endParaRPr lang="en-IN" dirty="0"/>
          </a:p>
          <a:p>
            <a:pPr algn="just"/>
            <a:endParaRPr lang="en-IN" b="0"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b="0"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b="0" dirty="0">
              <a:latin typeface="Times New Roman" panose="02020603050405020304" pitchFamily="18" charset="0"/>
              <a:cs typeface="Times New Roman" panose="02020603050405020304" pitchFamily="18" charset="0"/>
            </a:endParaRPr>
          </a:p>
          <a:p>
            <a:pPr algn="just"/>
            <a:endParaRPr lang="en-IN" b="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endParaRPr lang="en-US" dirty="0"/>
          </a:p>
        </p:txBody>
      </p:sp>
      <p:sp>
        <p:nvSpPr>
          <p:cNvPr id="4" name="Footer Placeholder 3">
            <a:extLst>
              <a:ext uri="{FF2B5EF4-FFF2-40B4-BE49-F238E27FC236}">
                <a16:creationId xmlns:a16="http://schemas.microsoft.com/office/drawing/2014/main" id="{6C1A7CD3-FDC3-32A7-74E1-968EEFC4A74C}"/>
              </a:ext>
            </a:extLst>
          </p:cNvPr>
          <p:cNvSpPr>
            <a:spLocks noGrp="1"/>
          </p:cNvSpPr>
          <p:nvPr>
            <p:ph type="ftr" sz="quarter" idx="2"/>
          </p:nvPr>
        </p:nvSpPr>
        <p:spPr/>
        <p:txBody>
          <a:bodyPr/>
          <a:lstStyle/>
          <a:p>
            <a:r>
              <a:rPr lang="en-US" dirty="0"/>
              <a:t>PBL Course Name: Object Oriented Programming through C++(2501CS08)     REVIEW-1</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3</a:t>
            </a:fld>
            <a:endParaRPr lang="en-IN" dirty="0"/>
          </a:p>
        </p:txBody>
      </p:sp>
      <p:grpSp>
        <p:nvGrpSpPr>
          <p:cNvPr id="8" name="object 3">
            <a:extLst>
              <a:ext uri="{FF2B5EF4-FFF2-40B4-BE49-F238E27FC236}">
                <a16:creationId xmlns:a16="http://schemas.microsoft.com/office/drawing/2014/main" id="{9AAADE54-5654-0DE3-30DA-CC9F5960E37E}"/>
              </a:ext>
            </a:extLst>
          </p:cNvPr>
          <p:cNvGrpSpPr/>
          <p:nvPr/>
        </p:nvGrpSpPr>
        <p:grpSpPr>
          <a:xfrm>
            <a:off x="3657600" y="329145"/>
            <a:ext cx="5103904" cy="1575855"/>
            <a:chOff x="2648188" y="47148"/>
            <a:chExt cx="5103904" cy="1198311"/>
          </a:xfrm>
        </p:grpSpPr>
        <p:pic>
          <p:nvPicPr>
            <p:cNvPr id="9" name="object 4">
              <a:extLst>
                <a:ext uri="{FF2B5EF4-FFF2-40B4-BE49-F238E27FC236}">
                  <a16:creationId xmlns:a16="http://schemas.microsoft.com/office/drawing/2014/main" id="{C1EF460A-A66C-ACB0-3C69-A4C4FAAB9281}"/>
                </a:ext>
              </a:extLst>
            </p:cNvPr>
            <p:cNvPicPr/>
            <p:nvPr/>
          </p:nvPicPr>
          <p:blipFill>
            <a:blip r:embed="rId2" cstate="print"/>
            <a:stretch>
              <a:fillRect/>
            </a:stretch>
          </p:blipFill>
          <p:spPr>
            <a:xfrm>
              <a:off x="2648188" y="47148"/>
              <a:ext cx="5103904" cy="1198311"/>
            </a:xfrm>
            <a:prstGeom prst="rect">
              <a:avLst/>
            </a:prstGeom>
          </p:spPr>
        </p:pic>
        <p:pic>
          <p:nvPicPr>
            <p:cNvPr id="10" name="object 5">
              <a:extLst>
                <a:ext uri="{FF2B5EF4-FFF2-40B4-BE49-F238E27FC236}">
                  <a16:creationId xmlns:a16="http://schemas.microsoft.com/office/drawing/2014/main" id="{F2975E16-34B3-3319-DD17-53DC6F9314CA}"/>
                </a:ext>
              </a:extLst>
            </p:cNvPr>
            <p:cNvPicPr/>
            <p:nvPr/>
          </p:nvPicPr>
          <p:blipFill>
            <a:blip r:embed="rId3" cstate="print"/>
            <a:stretch>
              <a:fillRect/>
            </a:stretch>
          </p:blipFill>
          <p:spPr>
            <a:xfrm>
              <a:off x="2703195" y="86439"/>
              <a:ext cx="4997767" cy="1092279"/>
            </a:xfrm>
            <a:prstGeom prst="rect">
              <a:avLst/>
            </a:prstGeom>
          </p:spPr>
        </p:pic>
        <p:pic>
          <p:nvPicPr>
            <p:cNvPr id="11" name="object 6">
              <a:extLst>
                <a:ext uri="{FF2B5EF4-FFF2-40B4-BE49-F238E27FC236}">
                  <a16:creationId xmlns:a16="http://schemas.microsoft.com/office/drawing/2014/main" id="{F3D951E3-51C0-7CF0-2FB7-34FCE2DA07DB}"/>
                </a:ext>
              </a:extLst>
            </p:cNvPr>
            <p:cNvPicPr/>
            <p:nvPr/>
          </p:nvPicPr>
          <p:blipFill>
            <a:blip r:embed="rId4" cstate="print"/>
            <a:stretch>
              <a:fillRect/>
            </a:stretch>
          </p:blipFill>
          <p:spPr>
            <a:xfrm>
              <a:off x="2828925" y="243549"/>
              <a:ext cx="4585268" cy="522565"/>
            </a:xfrm>
            <a:prstGeom prst="rect">
              <a:avLst/>
            </a:prstGeom>
          </p:spPr>
        </p:pic>
        <p:sp>
          <p:nvSpPr>
            <p:cNvPr id="12" name="object 7">
              <a:extLst>
                <a:ext uri="{FF2B5EF4-FFF2-40B4-BE49-F238E27FC236}">
                  <a16:creationId xmlns:a16="http://schemas.microsoft.com/office/drawing/2014/main" id="{C7E6961F-31B2-DC2E-2416-CD26BD7543F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4" name="TextBox 13">
            <a:extLst>
              <a:ext uri="{FF2B5EF4-FFF2-40B4-BE49-F238E27FC236}">
                <a16:creationId xmlns:a16="http://schemas.microsoft.com/office/drawing/2014/main" id="{CC604A7F-D338-1FE7-334F-50F6FC1E2B7B}"/>
              </a:ext>
            </a:extLst>
          </p:cNvPr>
          <p:cNvSpPr txBox="1"/>
          <p:nvPr/>
        </p:nvSpPr>
        <p:spPr>
          <a:xfrm>
            <a:off x="2899822" y="593049"/>
            <a:ext cx="6619460" cy="646331"/>
          </a:xfrm>
          <a:prstGeom prst="rect">
            <a:avLst/>
          </a:prstGeom>
          <a:noFill/>
        </p:spPr>
        <p:txBody>
          <a:bodyPr wrap="square">
            <a:spAutoFit/>
          </a:bodyPr>
          <a:lstStyle/>
          <a:p>
            <a:pPr lvl="0" algn="ctr">
              <a:lnSpc>
                <a:spcPct val="90000"/>
              </a:lnSpc>
              <a:spcBef>
                <a:spcPct val="0"/>
              </a:spcBef>
            </a:pPr>
            <a:r>
              <a:rPr lang="en-GB" sz="4000" dirty="0">
                <a:solidFill>
                  <a:schemeClr val="bg2">
                    <a:lumMod val="25000"/>
                  </a:schemeClr>
                </a:solidFill>
                <a:latin typeface="Maiandra GD" panose="020E0502030308020204" pitchFamily="34" charset="0"/>
                <a:cs typeface="Aharoni" panose="02010803020104030203" pitchFamily="2" charset="-79"/>
              </a:rPr>
              <a:t>Project Abstract</a:t>
            </a:r>
          </a:p>
        </p:txBody>
      </p:sp>
    </p:spTree>
    <p:extLst>
      <p:ext uri="{BB962C8B-B14F-4D97-AF65-F5344CB8AC3E}">
        <p14:creationId xmlns:p14="http://schemas.microsoft.com/office/powerpoint/2010/main" val="1780977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BEE030-05A4-4147-3CFB-23A1611208AB}"/>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FA0FAEFD-57EE-260C-4C87-11153AF1D8C6}"/>
              </a:ext>
            </a:extLst>
          </p:cNvPr>
          <p:cNvSpPr>
            <a:spLocks noGrp="1"/>
          </p:cNvSpPr>
          <p:nvPr>
            <p:ph type="ftr" sz="quarter" idx="11"/>
          </p:nvPr>
        </p:nvSpPr>
        <p:spPr/>
        <p:txBody>
          <a:bodyPr/>
          <a:lstStyle/>
          <a:p>
            <a:r>
              <a:rPr lang="en-US"/>
              <a:t>PBL Course Name: Object Oriented Programming through C++(2501CS08)     REVIEW-1</a:t>
            </a:r>
            <a:endParaRPr lang="en-US" dirty="0"/>
          </a:p>
        </p:txBody>
      </p:sp>
      <p:sp>
        <p:nvSpPr>
          <p:cNvPr id="4" name="Slide Number Placeholder 3">
            <a:extLst>
              <a:ext uri="{FF2B5EF4-FFF2-40B4-BE49-F238E27FC236}">
                <a16:creationId xmlns:a16="http://schemas.microsoft.com/office/drawing/2014/main" id="{ED05ABAE-3589-94DC-D63B-7E513D4FBA60}"/>
              </a:ext>
            </a:extLst>
          </p:cNvPr>
          <p:cNvSpPr>
            <a:spLocks noGrp="1"/>
          </p:cNvSpPr>
          <p:nvPr>
            <p:ph type="sldNum" sz="quarter" idx="12"/>
          </p:nvPr>
        </p:nvSpPr>
        <p:spPr/>
        <p:txBody>
          <a:bodyPr/>
          <a:lstStyle/>
          <a:p>
            <a:fld id="{D9C5B093-D3DD-4808-813A-F58BF8E67773}" type="slidenum">
              <a:rPr lang="en-IN" smtClean="0"/>
              <a:t>4</a:t>
            </a:fld>
            <a:endParaRPr lang="en-IN" dirty="0"/>
          </a:p>
        </p:txBody>
      </p:sp>
      <p:sp>
        <p:nvSpPr>
          <p:cNvPr id="7" name="TextBox 6">
            <a:extLst>
              <a:ext uri="{FF2B5EF4-FFF2-40B4-BE49-F238E27FC236}">
                <a16:creationId xmlns:a16="http://schemas.microsoft.com/office/drawing/2014/main" id="{41E749F4-EE47-17E4-1B57-B20FC4FC3FE8}"/>
              </a:ext>
            </a:extLst>
          </p:cNvPr>
          <p:cNvSpPr txBox="1"/>
          <p:nvPr/>
        </p:nvSpPr>
        <p:spPr>
          <a:xfrm>
            <a:off x="1028700" y="1676400"/>
            <a:ext cx="10134600" cy="4154984"/>
          </a:xfrm>
          <a:prstGeom prst="rect">
            <a:avLst/>
          </a:prstGeom>
          <a:noFill/>
        </p:spPr>
        <p:txBody>
          <a:bodyPr wrap="square">
            <a:spAutoFit/>
          </a:bodyPr>
          <a:lstStyle/>
          <a:p>
            <a:pPr algn="just">
              <a:buNone/>
            </a:pPr>
            <a:r>
              <a:rPr lang="en-IN" sz="2400" dirty="0"/>
              <a:t>Attendance is an important part of student academic management. Traditionally, attendance is recorded manually using registers, which can be time-consuming and may lead to errors.</a:t>
            </a:r>
          </a:p>
          <a:p>
            <a:pPr algn="just">
              <a:buNone/>
            </a:pPr>
            <a:r>
              <a:rPr lang="en-IN" sz="2400" dirty="0"/>
              <a:t>The </a:t>
            </a:r>
            <a:r>
              <a:rPr lang="en-IN" sz="2400" b="1" dirty="0"/>
              <a:t>Attendance Marking System</a:t>
            </a:r>
            <a:r>
              <a:rPr lang="en-IN" sz="2400" dirty="0"/>
              <a:t> is a C++-based application designed to simplify and automate the attendance management process. It allows teachers to store student details, mark attendance, search for student records, and view attendance information.</a:t>
            </a:r>
          </a:p>
          <a:p>
            <a:pPr algn="just">
              <a:buNone/>
            </a:pPr>
            <a:r>
              <a:rPr lang="en-IN" sz="2400" dirty="0"/>
              <a:t>The system also calculates the attendance percentage and identifies students whose attendance is below </a:t>
            </a:r>
            <a:r>
              <a:rPr lang="en-IN" sz="2400" b="1" dirty="0"/>
              <a:t>75%</a:t>
            </a:r>
            <a:r>
              <a:rPr lang="en-IN" sz="2400" dirty="0"/>
              <a:t>. The project uses </a:t>
            </a:r>
            <a:r>
              <a:rPr lang="en-IN" sz="2400" b="1" dirty="0"/>
              <a:t>Object-Oriented Programming concepts such as classes, objects, encapsulation, and member functions</a:t>
            </a:r>
            <a:r>
              <a:rPr lang="en-IN" sz="2400" dirty="0"/>
              <a:t> to provide a structured and reusable solution</a:t>
            </a:r>
            <a:r>
              <a:rPr lang="en-IN" dirty="0"/>
              <a:t>.</a:t>
            </a:r>
          </a:p>
        </p:txBody>
      </p:sp>
      <p:grpSp>
        <p:nvGrpSpPr>
          <p:cNvPr id="14" name="object 3">
            <a:extLst>
              <a:ext uri="{FF2B5EF4-FFF2-40B4-BE49-F238E27FC236}">
                <a16:creationId xmlns:a16="http://schemas.microsoft.com/office/drawing/2014/main" id="{510C6A3F-2748-44D8-010B-49624097039E}"/>
              </a:ext>
            </a:extLst>
          </p:cNvPr>
          <p:cNvGrpSpPr/>
          <p:nvPr/>
        </p:nvGrpSpPr>
        <p:grpSpPr>
          <a:xfrm>
            <a:off x="4038600" y="0"/>
            <a:ext cx="5103904" cy="1901335"/>
            <a:chOff x="2648188" y="47148"/>
            <a:chExt cx="5103904" cy="1198311"/>
          </a:xfrm>
        </p:grpSpPr>
        <p:pic>
          <p:nvPicPr>
            <p:cNvPr id="15" name="object 4">
              <a:extLst>
                <a:ext uri="{FF2B5EF4-FFF2-40B4-BE49-F238E27FC236}">
                  <a16:creationId xmlns:a16="http://schemas.microsoft.com/office/drawing/2014/main" id="{CA7E8EE8-93BD-DBD7-C4B4-65CFEF09267C}"/>
                </a:ext>
              </a:extLst>
            </p:cNvPr>
            <p:cNvPicPr/>
            <p:nvPr/>
          </p:nvPicPr>
          <p:blipFill>
            <a:blip r:embed="rId2" cstate="print"/>
            <a:stretch>
              <a:fillRect/>
            </a:stretch>
          </p:blipFill>
          <p:spPr>
            <a:xfrm>
              <a:off x="2648188" y="47148"/>
              <a:ext cx="5103904" cy="1198311"/>
            </a:xfrm>
            <a:prstGeom prst="rect">
              <a:avLst/>
            </a:prstGeom>
          </p:spPr>
        </p:pic>
        <p:pic>
          <p:nvPicPr>
            <p:cNvPr id="16" name="object 5">
              <a:extLst>
                <a:ext uri="{FF2B5EF4-FFF2-40B4-BE49-F238E27FC236}">
                  <a16:creationId xmlns:a16="http://schemas.microsoft.com/office/drawing/2014/main" id="{6FFC8B68-644E-DCA3-5BF4-4E80C7A0EAF3}"/>
                </a:ext>
              </a:extLst>
            </p:cNvPr>
            <p:cNvPicPr/>
            <p:nvPr/>
          </p:nvPicPr>
          <p:blipFill>
            <a:blip r:embed="rId3" cstate="print"/>
            <a:stretch>
              <a:fillRect/>
            </a:stretch>
          </p:blipFill>
          <p:spPr>
            <a:xfrm>
              <a:off x="2703195" y="86439"/>
              <a:ext cx="4997767" cy="1092279"/>
            </a:xfrm>
            <a:prstGeom prst="rect">
              <a:avLst/>
            </a:prstGeom>
          </p:spPr>
        </p:pic>
        <p:pic>
          <p:nvPicPr>
            <p:cNvPr id="17" name="object 6">
              <a:extLst>
                <a:ext uri="{FF2B5EF4-FFF2-40B4-BE49-F238E27FC236}">
                  <a16:creationId xmlns:a16="http://schemas.microsoft.com/office/drawing/2014/main" id="{F55FE123-AD54-0B81-6A0B-37C13588B7D2}"/>
                </a:ext>
              </a:extLst>
            </p:cNvPr>
            <p:cNvPicPr/>
            <p:nvPr/>
          </p:nvPicPr>
          <p:blipFill>
            <a:blip r:embed="rId4" cstate="print"/>
            <a:stretch>
              <a:fillRect/>
            </a:stretch>
          </p:blipFill>
          <p:spPr>
            <a:xfrm>
              <a:off x="2828925" y="243549"/>
              <a:ext cx="4585268" cy="522565"/>
            </a:xfrm>
            <a:prstGeom prst="rect">
              <a:avLst/>
            </a:prstGeom>
          </p:spPr>
        </p:pic>
        <p:sp>
          <p:nvSpPr>
            <p:cNvPr id="18" name="object 7">
              <a:extLst>
                <a:ext uri="{FF2B5EF4-FFF2-40B4-BE49-F238E27FC236}">
                  <a16:creationId xmlns:a16="http://schemas.microsoft.com/office/drawing/2014/main" id="{A9A3E9A7-FE0A-76D3-47E6-6D5A920E6494}"/>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20" name="TextBox 19">
            <a:extLst>
              <a:ext uri="{FF2B5EF4-FFF2-40B4-BE49-F238E27FC236}">
                <a16:creationId xmlns:a16="http://schemas.microsoft.com/office/drawing/2014/main" id="{E8E85655-EA37-0273-7CEC-82B22A7361DB}"/>
              </a:ext>
            </a:extLst>
          </p:cNvPr>
          <p:cNvSpPr txBox="1"/>
          <p:nvPr/>
        </p:nvSpPr>
        <p:spPr>
          <a:xfrm>
            <a:off x="4791572" y="320437"/>
            <a:ext cx="6216926" cy="830997"/>
          </a:xfrm>
          <a:prstGeom prst="rect">
            <a:avLst/>
          </a:prstGeom>
          <a:noFill/>
        </p:spPr>
        <p:txBody>
          <a:bodyPr wrap="square">
            <a:spAutoFit/>
          </a:bodyPr>
          <a:lstStyle/>
          <a:p>
            <a:pPr algn="just">
              <a:buNone/>
            </a:pPr>
            <a:r>
              <a:rPr lang="en-IN" sz="4800" b="1" dirty="0">
                <a:solidFill>
                  <a:schemeClr val="tx2">
                    <a:lumMod val="75000"/>
                  </a:schemeClr>
                </a:solidFill>
              </a:rPr>
              <a:t>Introduction</a:t>
            </a:r>
          </a:p>
        </p:txBody>
      </p:sp>
    </p:spTree>
    <p:extLst>
      <p:ext uri="{BB962C8B-B14F-4D97-AF65-F5344CB8AC3E}">
        <p14:creationId xmlns:p14="http://schemas.microsoft.com/office/powerpoint/2010/main" val="1782549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p:txBody>
          <a:bodyPr>
            <a:normAutofit fontScale="85000" lnSpcReduction="20000"/>
          </a:bodyPr>
          <a:lstStyle/>
          <a:p>
            <a:pPr marL="914400" indent="-457200">
              <a:buFont typeface="Wingdings" panose="05000000000000000000" pitchFamily="2" charset="2"/>
              <a:buChar char="Ø"/>
            </a:pPr>
            <a:r>
              <a:rPr lang="en-IN" b="1" dirty="0"/>
              <a:t>Problem Statement</a:t>
            </a:r>
          </a:p>
          <a:p>
            <a:r>
              <a:rPr lang="en-IN" dirty="0"/>
              <a:t>Maintaining attendance manually is time-consuming and prone to errors. Teachers may face difficulties in tracking student attendance records accurately.</a:t>
            </a:r>
          </a:p>
          <a:p>
            <a:pPr marL="914400" indent="-457200">
              <a:buFont typeface="Wingdings" panose="05000000000000000000" pitchFamily="2" charset="2"/>
              <a:buChar char="Ø"/>
            </a:pPr>
            <a:r>
              <a:rPr lang="en-IN" b="1" dirty="0"/>
              <a:t>Objectives</a:t>
            </a:r>
          </a:p>
          <a:p>
            <a:pPr lvl="0"/>
            <a:r>
              <a:rPr lang="en-IN" dirty="0"/>
              <a:t>1.Store student information efficiently. </a:t>
            </a:r>
          </a:p>
          <a:p>
            <a:pPr lvl="0"/>
            <a:r>
              <a:rPr lang="en-IN" dirty="0"/>
              <a:t>2.Mark attendance electronically. </a:t>
            </a:r>
          </a:p>
          <a:p>
            <a:pPr lvl="0"/>
            <a:r>
              <a:rPr lang="en-IN" dirty="0"/>
              <a:t>3.Search student records quickly. </a:t>
            </a:r>
          </a:p>
          <a:p>
            <a:pPr lvl="0"/>
            <a:r>
              <a:rPr lang="en-IN" dirty="0"/>
              <a:t>4.Display attendance details whenever required. </a:t>
            </a:r>
          </a:p>
          <a:p>
            <a:pPr lvl="0"/>
            <a:r>
              <a:rPr lang="en-IN" dirty="0"/>
              <a:t>5.Reduce manual work and improve accuracy.</a:t>
            </a:r>
          </a:p>
          <a:p>
            <a:pPr lvl="0"/>
            <a:r>
              <a:rPr lang="en-IN" dirty="0"/>
              <a:t>6.Calculate attendance percentage automatically. </a:t>
            </a:r>
          </a:p>
          <a:p>
            <a:pPr lvl="0"/>
            <a:r>
              <a:rPr lang="en-IN" dirty="0"/>
              <a:t>7.Identify students having attendance below 75%.</a:t>
            </a:r>
          </a:p>
          <a:p>
            <a:pPr lvl="0"/>
            <a:endParaRPr lang="en-IN" dirty="0"/>
          </a:p>
          <a:p>
            <a:pPr>
              <a:lnSpc>
                <a:spcPct val="150000"/>
              </a:lnSpc>
            </a:pPr>
            <a:endParaRPr lang="en-IN" b="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endParaRPr lang="en-US" dirty="0"/>
          </a:p>
        </p:txBody>
      </p:sp>
      <p:sp>
        <p:nvSpPr>
          <p:cNvPr id="4" name="Footer Placeholder 3">
            <a:extLst>
              <a:ext uri="{FF2B5EF4-FFF2-40B4-BE49-F238E27FC236}">
                <a16:creationId xmlns:a16="http://schemas.microsoft.com/office/drawing/2014/main" id="{6C1A7CD3-FDC3-32A7-74E1-968EEFC4A74C}"/>
              </a:ext>
            </a:extLst>
          </p:cNvPr>
          <p:cNvSpPr>
            <a:spLocks noGrp="1"/>
          </p:cNvSpPr>
          <p:nvPr>
            <p:ph type="ftr" sz="quarter" idx="2"/>
          </p:nvPr>
        </p:nvSpPr>
        <p:spPr/>
        <p:txBody>
          <a:bodyPr/>
          <a:lstStyle/>
          <a:p>
            <a:r>
              <a:rPr lang="en-US"/>
              <a:t>PBL Course Name: Object Oriented Programming through C++(2501CS08)     REVIEW-1</a:t>
            </a:r>
            <a:endParaRPr lang="en-US" dirty="0"/>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5</a:t>
            </a:fld>
            <a:endParaRPr lang="en-IN" dirty="0"/>
          </a:p>
        </p:txBody>
      </p:sp>
      <p:grpSp>
        <p:nvGrpSpPr>
          <p:cNvPr id="10" name="object 3">
            <a:extLst>
              <a:ext uri="{FF2B5EF4-FFF2-40B4-BE49-F238E27FC236}">
                <a16:creationId xmlns:a16="http://schemas.microsoft.com/office/drawing/2014/main" id="{43637FB9-08B9-D253-A97D-4FB11C2C8E9B}"/>
              </a:ext>
            </a:extLst>
          </p:cNvPr>
          <p:cNvGrpSpPr/>
          <p:nvPr/>
        </p:nvGrpSpPr>
        <p:grpSpPr>
          <a:xfrm>
            <a:off x="2567608" y="-72573"/>
            <a:ext cx="7795591" cy="1618066"/>
            <a:chOff x="2648188" y="47148"/>
            <a:chExt cx="5103904" cy="1234822"/>
          </a:xfrm>
        </p:grpSpPr>
        <p:pic>
          <p:nvPicPr>
            <p:cNvPr id="11" name="object 4">
              <a:extLst>
                <a:ext uri="{FF2B5EF4-FFF2-40B4-BE49-F238E27FC236}">
                  <a16:creationId xmlns:a16="http://schemas.microsoft.com/office/drawing/2014/main" id="{F27D6670-EC2A-CF6F-4E8D-D153C320E1BB}"/>
                </a:ext>
              </a:extLst>
            </p:cNvPr>
            <p:cNvPicPr/>
            <p:nvPr/>
          </p:nvPicPr>
          <p:blipFill>
            <a:blip r:embed="rId2" cstate="print"/>
            <a:stretch>
              <a:fillRect/>
            </a:stretch>
          </p:blipFill>
          <p:spPr>
            <a:xfrm>
              <a:off x="2648188" y="47148"/>
              <a:ext cx="5103904" cy="1198311"/>
            </a:xfrm>
            <a:prstGeom prst="rect">
              <a:avLst/>
            </a:prstGeom>
          </p:spPr>
        </p:pic>
        <p:pic>
          <p:nvPicPr>
            <p:cNvPr id="12" name="object 5">
              <a:extLst>
                <a:ext uri="{FF2B5EF4-FFF2-40B4-BE49-F238E27FC236}">
                  <a16:creationId xmlns:a16="http://schemas.microsoft.com/office/drawing/2014/main" id="{56912084-151F-3154-DFF8-A3ED521D4920}"/>
                </a:ext>
              </a:extLst>
            </p:cNvPr>
            <p:cNvPicPr/>
            <p:nvPr/>
          </p:nvPicPr>
          <p:blipFill>
            <a:blip r:embed="rId3" cstate="print"/>
            <a:stretch>
              <a:fillRect/>
            </a:stretch>
          </p:blipFill>
          <p:spPr>
            <a:xfrm>
              <a:off x="2701256" y="189691"/>
              <a:ext cx="4997767" cy="1092279"/>
            </a:xfrm>
            <a:prstGeom prst="rect">
              <a:avLst/>
            </a:prstGeom>
          </p:spPr>
        </p:pic>
        <p:pic>
          <p:nvPicPr>
            <p:cNvPr id="13" name="object 6">
              <a:extLst>
                <a:ext uri="{FF2B5EF4-FFF2-40B4-BE49-F238E27FC236}">
                  <a16:creationId xmlns:a16="http://schemas.microsoft.com/office/drawing/2014/main" id="{9FD92ADA-F680-E6E6-02A6-59C7C22B1251}"/>
                </a:ext>
              </a:extLst>
            </p:cNvPr>
            <p:cNvPicPr/>
            <p:nvPr/>
          </p:nvPicPr>
          <p:blipFill>
            <a:blip r:embed="rId4" cstate="print"/>
            <a:stretch>
              <a:fillRect/>
            </a:stretch>
          </p:blipFill>
          <p:spPr>
            <a:xfrm>
              <a:off x="2828925" y="243549"/>
              <a:ext cx="4585268" cy="522565"/>
            </a:xfrm>
            <a:prstGeom prst="rect">
              <a:avLst/>
            </a:prstGeom>
          </p:spPr>
        </p:pic>
        <p:sp>
          <p:nvSpPr>
            <p:cNvPr id="14" name="object 7">
              <a:extLst>
                <a:ext uri="{FF2B5EF4-FFF2-40B4-BE49-F238E27FC236}">
                  <a16:creationId xmlns:a16="http://schemas.microsoft.com/office/drawing/2014/main" id="{40C5ED9C-EFA3-24BF-F6AF-F9BA1CC7ECA5}"/>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6" name="TextBox 15">
            <a:extLst>
              <a:ext uri="{FF2B5EF4-FFF2-40B4-BE49-F238E27FC236}">
                <a16:creationId xmlns:a16="http://schemas.microsoft.com/office/drawing/2014/main" id="{3ED0FA4E-6807-0C3F-12F6-D05FB75A6893}"/>
              </a:ext>
            </a:extLst>
          </p:cNvPr>
          <p:cNvSpPr txBox="1"/>
          <p:nvPr/>
        </p:nvSpPr>
        <p:spPr>
          <a:xfrm>
            <a:off x="3073401" y="292942"/>
            <a:ext cx="6341164" cy="535531"/>
          </a:xfrm>
          <a:prstGeom prst="rect">
            <a:avLst/>
          </a:prstGeom>
          <a:noFill/>
        </p:spPr>
        <p:txBody>
          <a:bodyPr wrap="square">
            <a:spAutoFit/>
          </a:bodyPr>
          <a:lstStyle/>
          <a:p>
            <a:pPr lvl="0" algn="ctr">
              <a:lnSpc>
                <a:spcPct val="90000"/>
              </a:lnSpc>
              <a:spcBef>
                <a:spcPct val="0"/>
              </a:spcBef>
            </a:pPr>
            <a:r>
              <a:rPr lang="en-GB" sz="3200" dirty="0">
                <a:solidFill>
                  <a:schemeClr val="tx2">
                    <a:lumMod val="75000"/>
                  </a:schemeClr>
                </a:solidFill>
                <a:latin typeface="Maiandra GD" panose="020E0502030308020204" pitchFamily="34" charset="0"/>
                <a:cs typeface="Aharoni" panose="02010803020104030203" pitchFamily="2" charset="-79"/>
              </a:rPr>
              <a:t>Problem Statement &amp; Objectives</a:t>
            </a:r>
          </a:p>
        </p:txBody>
      </p:sp>
    </p:spTree>
    <p:extLst>
      <p:ext uri="{BB962C8B-B14F-4D97-AF65-F5344CB8AC3E}">
        <p14:creationId xmlns:p14="http://schemas.microsoft.com/office/powerpoint/2010/main" val="1780977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72C901-EA19-95F1-996E-3F9AADB7A72B}"/>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C68C628B-7B22-8AD7-5AFE-389906F72F73}"/>
              </a:ext>
            </a:extLst>
          </p:cNvPr>
          <p:cNvSpPr>
            <a:spLocks noGrp="1"/>
          </p:cNvSpPr>
          <p:nvPr>
            <p:ph type="ftr" sz="quarter" idx="11"/>
          </p:nvPr>
        </p:nvSpPr>
        <p:spPr/>
        <p:txBody>
          <a:bodyPr/>
          <a:lstStyle/>
          <a:p>
            <a:r>
              <a:rPr lang="en-US"/>
              <a:t>PBL Course Name: Object Oriented Programming through C++(2501CS08)     REVIEW-1</a:t>
            </a:r>
            <a:endParaRPr lang="en-US" dirty="0"/>
          </a:p>
        </p:txBody>
      </p:sp>
      <p:sp>
        <p:nvSpPr>
          <p:cNvPr id="4" name="Slide Number Placeholder 3">
            <a:extLst>
              <a:ext uri="{FF2B5EF4-FFF2-40B4-BE49-F238E27FC236}">
                <a16:creationId xmlns:a16="http://schemas.microsoft.com/office/drawing/2014/main" id="{717F5D2D-D086-3726-ECA9-22CE4D2E24E4}"/>
              </a:ext>
            </a:extLst>
          </p:cNvPr>
          <p:cNvSpPr>
            <a:spLocks noGrp="1"/>
          </p:cNvSpPr>
          <p:nvPr>
            <p:ph type="sldNum" sz="quarter" idx="12"/>
          </p:nvPr>
        </p:nvSpPr>
        <p:spPr/>
        <p:txBody>
          <a:bodyPr/>
          <a:lstStyle/>
          <a:p>
            <a:fld id="{D9C5B093-D3DD-4808-813A-F58BF8E67773}" type="slidenum">
              <a:rPr lang="en-IN" smtClean="0"/>
              <a:t>6</a:t>
            </a:fld>
            <a:endParaRPr lang="en-IN" dirty="0"/>
          </a:p>
        </p:txBody>
      </p:sp>
      <p:sp>
        <p:nvSpPr>
          <p:cNvPr id="6" name="TextBox 5">
            <a:extLst>
              <a:ext uri="{FF2B5EF4-FFF2-40B4-BE49-F238E27FC236}">
                <a16:creationId xmlns:a16="http://schemas.microsoft.com/office/drawing/2014/main" id="{E3125BB3-0167-2BF2-0C47-5303F5D749F0}"/>
              </a:ext>
            </a:extLst>
          </p:cNvPr>
          <p:cNvSpPr txBox="1"/>
          <p:nvPr/>
        </p:nvSpPr>
        <p:spPr>
          <a:xfrm>
            <a:off x="1828800" y="914399"/>
            <a:ext cx="8724900" cy="5632311"/>
          </a:xfrm>
          <a:prstGeom prst="rect">
            <a:avLst/>
          </a:prstGeom>
          <a:noFill/>
        </p:spPr>
        <p:txBody>
          <a:bodyPr wrap="square">
            <a:spAutoFit/>
          </a:bodyPr>
          <a:lstStyle/>
          <a:p>
            <a:pPr marL="342900" lvl="0" indent="-342900">
              <a:buFont typeface="Arial" panose="020B0604020202020204" pitchFamily="34" charset="0"/>
              <a:buChar char="•"/>
            </a:pPr>
            <a:r>
              <a:rPr lang="en-IN" sz="2400" b="1" dirty="0"/>
              <a:t>Automated Attendance Management:</a:t>
            </a:r>
            <a:r>
              <a:rPr lang="en-IN" sz="2400" dirty="0"/>
              <a:t> Reduces the need for maintaining attendance manually.</a:t>
            </a:r>
          </a:p>
          <a:p>
            <a:pPr marL="342900" lvl="0" indent="-342900">
              <a:buFont typeface="Arial" panose="020B0604020202020204" pitchFamily="34" charset="0"/>
              <a:buChar char="•"/>
            </a:pPr>
            <a:r>
              <a:rPr lang="en-IN" sz="2400" b="1" dirty="0"/>
              <a:t>Automatic Percentage Calculation:</a:t>
            </a:r>
            <a:r>
              <a:rPr lang="en-IN" sz="2400" dirty="0"/>
              <a:t> Calculates each student's attendance percentage automatically.</a:t>
            </a:r>
          </a:p>
          <a:p>
            <a:pPr marL="342900" lvl="0" indent="-342900">
              <a:buFont typeface="Arial" panose="020B0604020202020204" pitchFamily="34" charset="0"/>
              <a:buChar char="•"/>
            </a:pPr>
            <a:r>
              <a:rPr lang="en-IN" sz="2400" b="1" dirty="0"/>
              <a:t>Low Attendance Detection:</a:t>
            </a:r>
            <a:r>
              <a:rPr lang="en-IN" sz="2400" dirty="0"/>
              <a:t> Identifies students whose attendance is below </a:t>
            </a:r>
            <a:r>
              <a:rPr lang="en-IN" sz="2400" b="1" dirty="0"/>
              <a:t>75%</a:t>
            </a:r>
            <a:r>
              <a:rPr lang="en-IN" sz="2400" dirty="0"/>
              <a:t>.</a:t>
            </a:r>
          </a:p>
          <a:p>
            <a:pPr marL="342900" lvl="0" indent="-342900">
              <a:buFont typeface="Arial" panose="020B0604020202020204" pitchFamily="34" charset="0"/>
              <a:buChar char="•"/>
            </a:pPr>
            <a:r>
              <a:rPr lang="en-IN" sz="2400" b="1" dirty="0"/>
              <a:t>Quick Student Search:</a:t>
            </a:r>
            <a:r>
              <a:rPr lang="en-IN" sz="2400" dirty="0"/>
              <a:t> Allows student records to be searched using the roll number.</a:t>
            </a:r>
          </a:p>
          <a:p>
            <a:pPr marL="342900" lvl="0" indent="-342900">
              <a:buFont typeface="Arial" panose="020B0604020202020204" pitchFamily="34" charset="0"/>
              <a:buChar char="•"/>
            </a:pPr>
            <a:r>
              <a:rPr lang="en-IN" sz="2400" b="1" dirty="0"/>
              <a:t>Simple and User-Friendly System:</a:t>
            </a:r>
            <a:r>
              <a:rPr lang="en-IN" sz="2400" dirty="0"/>
              <a:t> Provides a straightforward menu-based interface for easy operation.</a:t>
            </a:r>
          </a:p>
          <a:p>
            <a:pPr marL="342900" lvl="0" indent="-342900">
              <a:buFont typeface="Arial" panose="020B0604020202020204" pitchFamily="34" charset="0"/>
              <a:buChar char="•"/>
            </a:pPr>
            <a:r>
              <a:rPr lang="en-IN" sz="2400" b="1" dirty="0"/>
              <a:t>Object-Oriented Design:</a:t>
            </a:r>
            <a:r>
              <a:rPr lang="en-IN" sz="2400" dirty="0"/>
              <a:t> Uses C++ concepts such as </a:t>
            </a:r>
            <a:r>
              <a:rPr lang="en-IN" sz="2400" b="1" dirty="0"/>
              <a:t>classes, objects, encapsulation, and member functions</a:t>
            </a:r>
            <a:r>
              <a:rPr lang="en-IN" sz="2400" dirty="0"/>
              <a:t> for organized and reusable code.</a:t>
            </a:r>
          </a:p>
          <a:p>
            <a:pPr marL="342900" lvl="0" indent="-342900">
              <a:buFont typeface="Arial" panose="020B0604020202020204" pitchFamily="34" charset="0"/>
              <a:buChar char="•"/>
            </a:pPr>
            <a:r>
              <a:rPr lang="en-IN" sz="2400" b="1" dirty="0"/>
              <a:t>Reduced Human Errors:</a:t>
            </a:r>
            <a:r>
              <a:rPr lang="en-IN" sz="2400" dirty="0"/>
              <a:t> Helps improve accuracy compared with manual attendance recording.</a:t>
            </a:r>
          </a:p>
        </p:txBody>
      </p:sp>
      <p:grpSp>
        <p:nvGrpSpPr>
          <p:cNvPr id="8" name="object 3">
            <a:extLst>
              <a:ext uri="{FF2B5EF4-FFF2-40B4-BE49-F238E27FC236}">
                <a16:creationId xmlns:a16="http://schemas.microsoft.com/office/drawing/2014/main" id="{E71AD175-AA09-F2B6-EC06-1E60F0E2A540}"/>
              </a:ext>
            </a:extLst>
          </p:cNvPr>
          <p:cNvGrpSpPr/>
          <p:nvPr/>
        </p:nvGrpSpPr>
        <p:grpSpPr>
          <a:xfrm>
            <a:off x="3200401" y="-304799"/>
            <a:ext cx="6279976" cy="1828800"/>
            <a:chOff x="2648188" y="47148"/>
            <a:chExt cx="5103904" cy="1198311"/>
          </a:xfrm>
        </p:grpSpPr>
        <p:pic>
          <p:nvPicPr>
            <p:cNvPr id="9" name="object 4">
              <a:extLst>
                <a:ext uri="{FF2B5EF4-FFF2-40B4-BE49-F238E27FC236}">
                  <a16:creationId xmlns:a16="http://schemas.microsoft.com/office/drawing/2014/main" id="{10CC4B0A-4CE6-100E-FAFA-C0DBDCDBDCDC}"/>
                </a:ext>
              </a:extLst>
            </p:cNvPr>
            <p:cNvPicPr/>
            <p:nvPr/>
          </p:nvPicPr>
          <p:blipFill>
            <a:blip r:embed="rId2" cstate="print"/>
            <a:stretch>
              <a:fillRect/>
            </a:stretch>
          </p:blipFill>
          <p:spPr>
            <a:xfrm>
              <a:off x="2648188" y="47148"/>
              <a:ext cx="5103904" cy="1198311"/>
            </a:xfrm>
            <a:prstGeom prst="rect">
              <a:avLst/>
            </a:prstGeom>
          </p:spPr>
        </p:pic>
        <p:pic>
          <p:nvPicPr>
            <p:cNvPr id="10" name="object 5">
              <a:extLst>
                <a:ext uri="{FF2B5EF4-FFF2-40B4-BE49-F238E27FC236}">
                  <a16:creationId xmlns:a16="http://schemas.microsoft.com/office/drawing/2014/main" id="{B2F709E5-DD6C-4331-6070-1171DC789A17}"/>
                </a:ext>
              </a:extLst>
            </p:cNvPr>
            <p:cNvPicPr/>
            <p:nvPr/>
          </p:nvPicPr>
          <p:blipFill>
            <a:blip r:embed="rId3" cstate="print"/>
            <a:stretch>
              <a:fillRect/>
            </a:stretch>
          </p:blipFill>
          <p:spPr>
            <a:xfrm>
              <a:off x="2703195" y="86439"/>
              <a:ext cx="4997767" cy="1092279"/>
            </a:xfrm>
            <a:prstGeom prst="rect">
              <a:avLst/>
            </a:prstGeom>
          </p:spPr>
        </p:pic>
        <p:pic>
          <p:nvPicPr>
            <p:cNvPr id="11" name="object 6">
              <a:extLst>
                <a:ext uri="{FF2B5EF4-FFF2-40B4-BE49-F238E27FC236}">
                  <a16:creationId xmlns:a16="http://schemas.microsoft.com/office/drawing/2014/main" id="{9C2B98A0-6397-3051-442B-CDEE679BEB43}"/>
                </a:ext>
              </a:extLst>
            </p:cNvPr>
            <p:cNvPicPr/>
            <p:nvPr/>
          </p:nvPicPr>
          <p:blipFill>
            <a:blip r:embed="rId4" cstate="print"/>
            <a:stretch>
              <a:fillRect/>
            </a:stretch>
          </p:blipFill>
          <p:spPr>
            <a:xfrm>
              <a:off x="2828925" y="243549"/>
              <a:ext cx="4585268" cy="522565"/>
            </a:xfrm>
            <a:prstGeom prst="rect">
              <a:avLst/>
            </a:prstGeom>
          </p:spPr>
        </p:pic>
        <p:sp>
          <p:nvSpPr>
            <p:cNvPr id="12" name="object 7">
              <a:extLst>
                <a:ext uri="{FF2B5EF4-FFF2-40B4-BE49-F238E27FC236}">
                  <a16:creationId xmlns:a16="http://schemas.microsoft.com/office/drawing/2014/main" id="{E2889EA4-8AD4-04EC-EF95-D7D9690EE395}"/>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4" name="TextBox 13">
            <a:extLst>
              <a:ext uri="{FF2B5EF4-FFF2-40B4-BE49-F238E27FC236}">
                <a16:creationId xmlns:a16="http://schemas.microsoft.com/office/drawing/2014/main" id="{73EFB14A-FD17-E537-7285-C85F3E71F316}"/>
              </a:ext>
            </a:extLst>
          </p:cNvPr>
          <p:cNvSpPr txBox="1"/>
          <p:nvPr/>
        </p:nvSpPr>
        <p:spPr>
          <a:xfrm>
            <a:off x="4055538" y="106292"/>
            <a:ext cx="6216926" cy="646331"/>
          </a:xfrm>
          <a:prstGeom prst="rect">
            <a:avLst/>
          </a:prstGeom>
          <a:noFill/>
        </p:spPr>
        <p:txBody>
          <a:bodyPr wrap="square">
            <a:spAutoFit/>
          </a:bodyPr>
          <a:lstStyle/>
          <a:p>
            <a:pPr>
              <a:buNone/>
            </a:pPr>
            <a:r>
              <a:rPr lang="en-IN" sz="3600" b="1" dirty="0">
                <a:solidFill>
                  <a:schemeClr val="tx2">
                    <a:lumMod val="75000"/>
                  </a:schemeClr>
                </a:solidFill>
              </a:rPr>
              <a:t>Novelty of the Project</a:t>
            </a:r>
          </a:p>
        </p:txBody>
      </p:sp>
    </p:spTree>
    <p:extLst>
      <p:ext uri="{BB962C8B-B14F-4D97-AF65-F5344CB8AC3E}">
        <p14:creationId xmlns:p14="http://schemas.microsoft.com/office/powerpoint/2010/main" val="1469529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a:xfrm>
            <a:off x="869085" y="914401"/>
            <a:ext cx="10515600" cy="5181599"/>
          </a:xfrm>
        </p:spPr>
        <p:txBody>
          <a:bodyPr>
            <a:normAutofit fontScale="55000" lnSpcReduction="20000"/>
          </a:bodyPr>
          <a:lstStyle/>
          <a:p>
            <a:r>
              <a:rPr lang="en-IN" sz="2900" b="1" dirty="0"/>
              <a:t>1.Student Management Module</a:t>
            </a:r>
          </a:p>
          <a:p>
            <a:pPr lvl="0"/>
            <a:r>
              <a:rPr lang="en-IN" sz="2900" dirty="0"/>
              <a:t>       Add student details. </a:t>
            </a:r>
          </a:p>
          <a:p>
            <a:pPr lvl="0"/>
            <a:r>
              <a:rPr lang="en-IN" sz="2900" dirty="0"/>
              <a:t>        Store roll number and name. </a:t>
            </a:r>
          </a:p>
          <a:p>
            <a:r>
              <a:rPr lang="en-IN" sz="2900" b="1" dirty="0"/>
              <a:t>2.Attendance Module</a:t>
            </a:r>
          </a:p>
          <a:p>
            <a:pPr lvl="0"/>
            <a:r>
              <a:rPr lang="en-IN" sz="2900" dirty="0"/>
              <a:t>          Mark attendance for students. </a:t>
            </a:r>
          </a:p>
          <a:p>
            <a:pPr lvl="0"/>
            <a:r>
              <a:rPr lang="en-IN" sz="2900" dirty="0"/>
              <a:t>          Update attendance count automatically. </a:t>
            </a:r>
          </a:p>
          <a:p>
            <a:r>
              <a:rPr lang="en-IN" sz="2900" b="1" dirty="0"/>
              <a:t>3.Search Module</a:t>
            </a:r>
          </a:p>
          <a:p>
            <a:pPr lvl="0"/>
            <a:r>
              <a:rPr lang="en-IN" sz="2900" dirty="0"/>
              <a:t>          Search students using roll number. </a:t>
            </a:r>
          </a:p>
          <a:p>
            <a:pPr lvl="0"/>
            <a:r>
              <a:rPr lang="en-IN" sz="2900" dirty="0"/>
              <a:t>          Display student details instantly. </a:t>
            </a:r>
          </a:p>
          <a:p>
            <a:r>
              <a:rPr lang="en-IN" sz="3200" b="1" dirty="0"/>
              <a:t>4.Percentage Calculation Module</a:t>
            </a:r>
            <a:endParaRPr lang="en-IN" sz="3200" dirty="0"/>
          </a:p>
          <a:p>
            <a:pPr lvl="0"/>
            <a:r>
              <a:rPr lang="en-IN" sz="3200" dirty="0"/>
              <a:t>          Calculate attendance percentage.</a:t>
            </a:r>
          </a:p>
          <a:p>
            <a:pPr lvl="0"/>
            <a:r>
              <a:rPr lang="en-IN" sz="3200" dirty="0"/>
              <a:t>          Identify students with attendance below 75%.</a:t>
            </a:r>
          </a:p>
          <a:p>
            <a:r>
              <a:rPr lang="en-IN" sz="2900" b="1" dirty="0"/>
              <a:t>5.Display Module</a:t>
            </a:r>
          </a:p>
          <a:p>
            <a:pPr lvl="0"/>
            <a:r>
              <a:rPr lang="en-IN" sz="2900" dirty="0"/>
              <a:t>          View all student records. </a:t>
            </a:r>
          </a:p>
          <a:p>
            <a:pPr lvl="0"/>
            <a:r>
              <a:rPr lang="en-IN" sz="2900" dirty="0"/>
              <a:t>          how attendance status of each student. </a:t>
            </a:r>
          </a:p>
          <a:p>
            <a:r>
              <a:rPr lang="en-IN" sz="2900" b="1" dirty="0"/>
              <a:t>6.Exit Module</a:t>
            </a:r>
          </a:p>
          <a:p>
            <a:pPr lvl="0"/>
            <a:r>
              <a:rPr lang="en-IN" sz="2900" dirty="0"/>
              <a:t>           Safely terminate the application.</a:t>
            </a:r>
          </a:p>
          <a:p>
            <a:pPr>
              <a:lnSpc>
                <a:spcPct val="150000"/>
              </a:lnSpc>
            </a:pPr>
            <a:endParaRPr lang="en-IN" b="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endParaRPr lang="en-US" dirty="0"/>
          </a:p>
        </p:txBody>
      </p:sp>
      <p:sp>
        <p:nvSpPr>
          <p:cNvPr id="4" name="Footer Placeholder 3">
            <a:extLst>
              <a:ext uri="{FF2B5EF4-FFF2-40B4-BE49-F238E27FC236}">
                <a16:creationId xmlns:a16="http://schemas.microsoft.com/office/drawing/2014/main" id="{6C1A7CD3-FDC3-32A7-74E1-968EEFC4A74C}"/>
              </a:ext>
            </a:extLst>
          </p:cNvPr>
          <p:cNvSpPr>
            <a:spLocks noGrp="1"/>
          </p:cNvSpPr>
          <p:nvPr>
            <p:ph type="ftr" sz="quarter" idx="2"/>
          </p:nvPr>
        </p:nvSpPr>
        <p:spPr/>
        <p:txBody>
          <a:bodyPr/>
          <a:lstStyle/>
          <a:p>
            <a:r>
              <a:rPr lang="en-US"/>
              <a:t>PBL Course Name: Object Oriented Programming through C++(2501CS08)     REVIEW-1</a:t>
            </a:r>
            <a:endParaRPr lang="en-US" dirty="0"/>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7</a:t>
            </a:fld>
            <a:endParaRPr lang="en-IN" dirty="0"/>
          </a:p>
        </p:txBody>
      </p:sp>
      <p:grpSp>
        <p:nvGrpSpPr>
          <p:cNvPr id="8" name="object 3">
            <a:extLst>
              <a:ext uri="{FF2B5EF4-FFF2-40B4-BE49-F238E27FC236}">
                <a16:creationId xmlns:a16="http://schemas.microsoft.com/office/drawing/2014/main" id="{5AA1812B-5A7A-C93D-BAD4-375BD25910B9}"/>
              </a:ext>
            </a:extLst>
          </p:cNvPr>
          <p:cNvGrpSpPr/>
          <p:nvPr/>
        </p:nvGrpSpPr>
        <p:grpSpPr>
          <a:xfrm>
            <a:off x="4208203" y="162844"/>
            <a:ext cx="6056139" cy="1361156"/>
            <a:chOff x="2648188" y="47148"/>
            <a:chExt cx="5103904" cy="1198311"/>
          </a:xfrm>
        </p:grpSpPr>
        <p:pic>
          <p:nvPicPr>
            <p:cNvPr id="9" name="object 4">
              <a:extLst>
                <a:ext uri="{FF2B5EF4-FFF2-40B4-BE49-F238E27FC236}">
                  <a16:creationId xmlns:a16="http://schemas.microsoft.com/office/drawing/2014/main" id="{821C4CB9-9BD0-0BD6-231B-99E609815FFB}"/>
                </a:ext>
              </a:extLst>
            </p:cNvPr>
            <p:cNvPicPr/>
            <p:nvPr/>
          </p:nvPicPr>
          <p:blipFill>
            <a:blip r:embed="rId2" cstate="print"/>
            <a:stretch>
              <a:fillRect/>
            </a:stretch>
          </p:blipFill>
          <p:spPr>
            <a:xfrm>
              <a:off x="2648188" y="47148"/>
              <a:ext cx="5103904" cy="1198311"/>
            </a:xfrm>
            <a:prstGeom prst="rect">
              <a:avLst/>
            </a:prstGeom>
          </p:spPr>
        </p:pic>
        <p:pic>
          <p:nvPicPr>
            <p:cNvPr id="10" name="object 5">
              <a:extLst>
                <a:ext uri="{FF2B5EF4-FFF2-40B4-BE49-F238E27FC236}">
                  <a16:creationId xmlns:a16="http://schemas.microsoft.com/office/drawing/2014/main" id="{654FB296-71B2-738B-A4E1-029AD1ADE385}"/>
                </a:ext>
              </a:extLst>
            </p:cNvPr>
            <p:cNvPicPr/>
            <p:nvPr/>
          </p:nvPicPr>
          <p:blipFill>
            <a:blip r:embed="rId3" cstate="print"/>
            <a:stretch>
              <a:fillRect/>
            </a:stretch>
          </p:blipFill>
          <p:spPr>
            <a:xfrm>
              <a:off x="2703195" y="86439"/>
              <a:ext cx="4997767" cy="957769"/>
            </a:xfrm>
            <a:prstGeom prst="rect">
              <a:avLst/>
            </a:prstGeom>
          </p:spPr>
        </p:pic>
        <p:pic>
          <p:nvPicPr>
            <p:cNvPr id="11" name="object 6">
              <a:extLst>
                <a:ext uri="{FF2B5EF4-FFF2-40B4-BE49-F238E27FC236}">
                  <a16:creationId xmlns:a16="http://schemas.microsoft.com/office/drawing/2014/main" id="{806B8D2F-AE94-C162-A931-512273BF6C09}"/>
                </a:ext>
              </a:extLst>
            </p:cNvPr>
            <p:cNvPicPr/>
            <p:nvPr/>
          </p:nvPicPr>
          <p:blipFill>
            <a:blip r:embed="rId4" cstate="print"/>
            <a:stretch>
              <a:fillRect/>
            </a:stretch>
          </p:blipFill>
          <p:spPr>
            <a:xfrm>
              <a:off x="2828925" y="243549"/>
              <a:ext cx="4585268" cy="522565"/>
            </a:xfrm>
            <a:prstGeom prst="rect">
              <a:avLst/>
            </a:prstGeom>
          </p:spPr>
        </p:pic>
        <p:sp>
          <p:nvSpPr>
            <p:cNvPr id="12" name="object 7">
              <a:extLst>
                <a:ext uri="{FF2B5EF4-FFF2-40B4-BE49-F238E27FC236}">
                  <a16:creationId xmlns:a16="http://schemas.microsoft.com/office/drawing/2014/main" id="{33510EDC-3938-E973-131D-F26084DA5E39}"/>
                </a:ext>
              </a:extLst>
            </p:cNvPr>
            <p:cNvSpPr/>
            <p:nvPr/>
          </p:nvSpPr>
          <p:spPr>
            <a:xfrm>
              <a:off x="2934903" y="255216"/>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ctr"/>
              <a:r>
                <a:rPr lang="en-GB" sz="3200" dirty="0">
                  <a:solidFill>
                    <a:schemeClr val="tx2">
                      <a:lumMod val="75000"/>
                    </a:schemeClr>
                  </a:solidFill>
                  <a:latin typeface="Maiandra GD" panose="020E0502030308020204" pitchFamily="34" charset="0"/>
                  <a:cs typeface="Aharoni" panose="02010803020104030203" pitchFamily="2" charset="-79"/>
                </a:rPr>
                <a:t>Planned Modules / Functions</a:t>
              </a:r>
            </a:p>
            <a:p>
              <a:endParaRPr dirty="0"/>
            </a:p>
          </p:txBody>
        </p:sp>
      </p:grpSp>
    </p:spTree>
    <p:extLst>
      <p:ext uri="{BB962C8B-B14F-4D97-AF65-F5344CB8AC3E}">
        <p14:creationId xmlns:p14="http://schemas.microsoft.com/office/powerpoint/2010/main" val="1780977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a:xfrm>
            <a:off x="869085" y="1561876"/>
            <a:ext cx="10515600" cy="4716893"/>
          </a:xfrm>
        </p:spPr>
        <p:txBody>
          <a:bodyPr>
            <a:normAutofit lnSpcReduction="10000"/>
          </a:bodyPr>
          <a:lstStyle/>
          <a:p>
            <a:pPr marL="800100" indent="-342900">
              <a:buFont typeface="Wingdings" panose="05000000000000000000" pitchFamily="2" charset="2"/>
              <a:buChar char="Ø"/>
            </a:pPr>
            <a:r>
              <a:rPr lang="en-IN" sz="2400" b="1" dirty="0"/>
              <a:t>Faculty / Teacher</a:t>
            </a:r>
          </a:p>
          <a:p>
            <a:pPr lvl="0"/>
            <a:r>
              <a:rPr lang="en-IN" sz="2400" dirty="0"/>
              <a:t>         Adds student details. </a:t>
            </a:r>
          </a:p>
          <a:p>
            <a:pPr lvl="0"/>
            <a:r>
              <a:rPr lang="en-IN" sz="2400" dirty="0"/>
              <a:t>         Marks attendance. </a:t>
            </a:r>
          </a:p>
          <a:p>
            <a:pPr lvl="0"/>
            <a:r>
              <a:rPr lang="en-IN" sz="2400" dirty="0"/>
              <a:t>         View attendance percentage. </a:t>
            </a:r>
          </a:p>
          <a:p>
            <a:pPr lvl="0"/>
            <a:r>
              <a:rPr lang="en-IN" sz="2400" dirty="0"/>
              <a:t>         Identify students with low attendance</a:t>
            </a:r>
          </a:p>
          <a:p>
            <a:pPr lvl="0"/>
            <a:r>
              <a:rPr lang="en-IN" sz="2400" dirty="0"/>
              <a:t>         Views attendance reports. </a:t>
            </a:r>
          </a:p>
          <a:p>
            <a:pPr marL="800100" indent="-342900">
              <a:buFont typeface="Wingdings" panose="05000000000000000000" pitchFamily="2" charset="2"/>
              <a:buChar char="Ø"/>
            </a:pPr>
            <a:r>
              <a:rPr lang="en-IN" sz="2400" b="1" dirty="0"/>
              <a:t>Students</a:t>
            </a:r>
          </a:p>
          <a:p>
            <a:pPr lvl="0"/>
            <a:r>
              <a:rPr lang="en-IN" sz="2400" dirty="0"/>
              <a:t>         Attendance records are maintained in the system. </a:t>
            </a:r>
          </a:p>
          <a:p>
            <a:pPr lvl="0"/>
            <a:r>
              <a:rPr lang="en-IN" sz="2400" dirty="0"/>
              <a:t>         Can check attendance status through the teacher. </a:t>
            </a:r>
          </a:p>
          <a:p>
            <a:pPr marL="800100" indent="-342900">
              <a:buFont typeface="Wingdings" panose="05000000000000000000" pitchFamily="2" charset="2"/>
              <a:buChar char="Ø"/>
            </a:pPr>
            <a:r>
              <a:rPr lang="en-IN" sz="2400" b="1" dirty="0"/>
              <a:t>Administrator</a:t>
            </a:r>
          </a:p>
          <a:p>
            <a:pPr lvl="0"/>
            <a:r>
              <a:rPr lang="en-IN" sz="2400" dirty="0"/>
              <a:t>          Maintains and manages the overall attendance system. </a:t>
            </a:r>
          </a:p>
          <a:p>
            <a:pPr>
              <a:lnSpc>
                <a:spcPct val="150000"/>
              </a:lnSpc>
            </a:pPr>
            <a:endParaRPr lang="en-IN" sz="2400" b="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endParaRPr lang="en-US" dirty="0"/>
          </a:p>
        </p:txBody>
      </p:sp>
      <p:sp>
        <p:nvSpPr>
          <p:cNvPr id="4" name="Footer Placeholder 3">
            <a:extLst>
              <a:ext uri="{FF2B5EF4-FFF2-40B4-BE49-F238E27FC236}">
                <a16:creationId xmlns:a16="http://schemas.microsoft.com/office/drawing/2014/main" id="{6C1A7CD3-FDC3-32A7-74E1-968EEFC4A74C}"/>
              </a:ext>
            </a:extLst>
          </p:cNvPr>
          <p:cNvSpPr>
            <a:spLocks noGrp="1"/>
          </p:cNvSpPr>
          <p:nvPr>
            <p:ph type="ftr" sz="quarter" idx="2"/>
          </p:nvPr>
        </p:nvSpPr>
        <p:spPr/>
        <p:txBody>
          <a:bodyPr/>
          <a:lstStyle/>
          <a:p>
            <a:r>
              <a:rPr lang="en-US"/>
              <a:t>PBL Course Name: Object Oriented Programming through C++(2501CS08)     REVIEW-1</a:t>
            </a:r>
            <a:endParaRPr lang="en-US" dirty="0"/>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8</a:t>
            </a:fld>
            <a:endParaRPr lang="en-IN" dirty="0"/>
          </a:p>
        </p:txBody>
      </p:sp>
      <p:grpSp>
        <p:nvGrpSpPr>
          <p:cNvPr id="6" name="object 3">
            <a:extLst>
              <a:ext uri="{FF2B5EF4-FFF2-40B4-BE49-F238E27FC236}">
                <a16:creationId xmlns:a16="http://schemas.microsoft.com/office/drawing/2014/main" id="{49C9EACA-AE46-0EAA-6103-CDA0DC73398D}"/>
              </a:ext>
            </a:extLst>
          </p:cNvPr>
          <p:cNvGrpSpPr/>
          <p:nvPr/>
        </p:nvGrpSpPr>
        <p:grpSpPr>
          <a:xfrm>
            <a:off x="3430863" y="214104"/>
            <a:ext cx="6056139" cy="1587051"/>
            <a:chOff x="2648188" y="47148"/>
            <a:chExt cx="5103904" cy="1198311"/>
          </a:xfrm>
        </p:grpSpPr>
        <p:pic>
          <p:nvPicPr>
            <p:cNvPr id="8" name="object 4">
              <a:extLst>
                <a:ext uri="{FF2B5EF4-FFF2-40B4-BE49-F238E27FC236}">
                  <a16:creationId xmlns:a16="http://schemas.microsoft.com/office/drawing/2014/main" id="{FE067491-707D-D6FA-9A48-56575A785F78}"/>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BE9329D3-B33D-365F-6E1D-E5C2774C21DA}"/>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4AF955AF-1BF5-8F4B-0919-42C0810A4F19}"/>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DC5FA2C7-57AA-EB0A-071E-2BDE02C6163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ctr"/>
              <a:r>
                <a:rPr lang="en-GB" sz="3200" b="1" dirty="0">
                  <a:solidFill>
                    <a:schemeClr val="tx2">
                      <a:lumMod val="50000"/>
                    </a:schemeClr>
                  </a:solidFill>
                  <a:latin typeface="Maiandra GD" panose="020E0502030308020204" pitchFamily="34" charset="0"/>
                  <a:cs typeface="Aharoni" panose="02010803020104030203" pitchFamily="2" charset="-79"/>
                </a:rPr>
                <a:t>Users of the System</a:t>
              </a:r>
            </a:p>
            <a:p>
              <a:endParaRPr dirty="0"/>
            </a:p>
          </p:txBody>
        </p:sp>
      </p:grpSp>
    </p:spTree>
    <p:extLst>
      <p:ext uri="{BB962C8B-B14F-4D97-AF65-F5344CB8AC3E}">
        <p14:creationId xmlns:p14="http://schemas.microsoft.com/office/powerpoint/2010/main" val="1780977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a:xfrm>
            <a:off x="869085" y="914401"/>
            <a:ext cx="10515600" cy="5509754"/>
          </a:xfrm>
        </p:spPr>
        <p:txBody>
          <a:bodyPr>
            <a:normAutofit fontScale="92500" lnSpcReduction="20000"/>
          </a:bodyPr>
          <a:lstStyle/>
          <a:p>
            <a:r>
              <a:rPr lang="en-IN" b="1" dirty="0"/>
              <a:t>1. Student Management Module</a:t>
            </a:r>
          </a:p>
          <a:p>
            <a:pPr lvl="0"/>
            <a:r>
              <a:rPr lang="en-IN" dirty="0"/>
              <a:t>addStudent() – Adds roll number and student name.</a:t>
            </a:r>
          </a:p>
          <a:p>
            <a:pPr lvl="0"/>
            <a:r>
              <a:rPr lang="en-IN" dirty="0"/>
              <a:t>Initializes attendance count to </a:t>
            </a:r>
            <a:r>
              <a:rPr lang="en-IN" b="1" dirty="0"/>
              <a:t>0</a:t>
            </a:r>
            <a:r>
              <a:rPr lang="en-IN" dirty="0"/>
              <a:t>.</a:t>
            </a:r>
          </a:p>
          <a:p>
            <a:pPr lvl="0"/>
            <a:r>
              <a:rPr lang="en-IN" dirty="0"/>
              <a:t>Validates the roll number input.</a:t>
            </a:r>
          </a:p>
          <a:p>
            <a:r>
              <a:rPr lang="en-IN" b="1" dirty="0"/>
              <a:t>2. Attendance Module</a:t>
            </a:r>
          </a:p>
          <a:p>
            <a:pPr lvl="0"/>
            <a:r>
              <a:rPr lang="en-IN" dirty="0"/>
              <a:t>markAttendance() – Increases attendance count when the student is present.</a:t>
            </a:r>
          </a:p>
          <a:p>
            <a:pPr lvl="0"/>
            <a:r>
              <a:rPr lang="en-IN" dirty="0"/>
              <a:t>Takes </a:t>
            </a:r>
            <a:r>
              <a:rPr lang="en-IN" b="1" dirty="0"/>
              <a:t>Y/N</a:t>
            </a:r>
            <a:r>
              <a:rPr lang="en-IN" dirty="0"/>
              <a:t> input for each student.</a:t>
            </a:r>
          </a:p>
          <a:p>
            <a:pPr lvl="0"/>
            <a:r>
              <a:rPr lang="en-IN" dirty="0"/>
              <a:t>Displays attendance confirmation.</a:t>
            </a:r>
          </a:p>
          <a:p>
            <a:r>
              <a:rPr lang="en-IN" b="1" dirty="0"/>
              <a:t>3. Student Search Module</a:t>
            </a:r>
          </a:p>
          <a:p>
            <a:pPr lvl="0"/>
            <a:r>
              <a:rPr lang="en-IN" dirty="0"/>
              <a:t>getRollNo() – Returns the student's roll number.</a:t>
            </a:r>
          </a:p>
          <a:p>
            <a:pPr lvl="0"/>
            <a:r>
              <a:rPr lang="en-IN" dirty="0"/>
              <a:t>Searches for a student using the roll number.</a:t>
            </a:r>
          </a:p>
          <a:p>
            <a:pPr lvl="0"/>
            <a:r>
              <a:rPr lang="en-IN" dirty="0"/>
              <a:t>Displays </a:t>
            </a:r>
            <a:r>
              <a:rPr lang="en-IN" b="1" dirty="0"/>
              <a:t>Student Not Found</a:t>
            </a:r>
            <a:r>
              <a:rPr lang="en-IN" dirty="0"/>
              <a:t> if no matching record exists.</a:t>
            </a:r>
          </a:p>
          <a:p>
            <a:pPr>
              <a:lnSpc>
                <a:spcPct val="150000"/>
              </a:lnSpc>
            </a:pPr>
            <a:endParaRPr lang="en-IN" b="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9</a:t>
            </a:fld>
            <a:endParaRPr lang="en-IN" dirty="0"/>
          </a:p>
        </p:txBody>
      </p:sp>
      <p:grpSp>
        <p:nvGrpSpPr>
          <p:cNvPr id="3" name="object 3">
            <a:extLst>
              <a:ext uri="{FF2B5EF4-FFF2-40B4-BE49-F238E27FC236}">
                <a16:creationId xmlns:a16="http://schemas.microsoft.com/office/drawing/2014/main" id="{00EEEF95-EFE0-D05E-F616-37543A16CA87}"/>
              </a:ext>
            </a:extLst>
          </p:cNvPr>
          <p:cNvGrpSpPr/>
          <p:nvPr/>
        </p:nvGrpSpPr>
        <p:grpSpPr>
          <a:xfrm>
            <a:off x="3657600" y="-66261"/>
            <a:ext cx="6176963" cy="1531480"/>
            <a:chOff x="2648188" y="47148"/>
            <a:chExt cx="5103904" cy="1198311"/>
          </a:xfrm>
        </p:grpSpPr>
        <p:pic>
          <p:nvPicPr>
            <p:cNvPr id="4" name="object 4">
              <a:extLst>
                <a:ext uri="{FF2B5EF4-FFF2-40B4-BE49-F238E27FC236}">
                  <a16:creationId xmlns:a16="http://schemas.microsoft.com/office/drawing/2014/main" id="{1CB9E10D-158B-9AB0-AAB7-80512571D209}"/>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91D9A88C-0BF5-CD6E-D906-904F4C02399C}"/>
                </a:ext>
              </a:extLst>
            </p:cNvPr>
            <p:cNvPicPr/>
            <p:nvPr/>
          </p:nvPicPr>
          <p:blipFill>
            <a:blip r:embed="rId3"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D97F3038-2C1B-E1A1-708E-32AF10537C00}"/>
                </a:ext>
              </a:extLst>
            </p:cNvPr>
            <p:cNvPicPr/>
            <p:nvPr/>
          </p:nvPicPr>
          <p:blipFill>
            <a:blip r:embed="rId4"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664FA814-0146-6C17-CB94-E181B23B5730}"/>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1" name="TextBox 10">
            <a:extLst>
              <a:ext uri="{FF2B5EF4-FFF2-40B4-BE49-F238E27FC236}">
                <a16:creationId xmlns:a16="http://schemas.microsoft.com/office/drawing/2014/main" id="{14B0F7F5-E911-1CA7-DBDF-EC96BDB50772}"/>
              </a:ext>
            </a:extLst>
          </p:cNvPr>
          <p:cNvSpPr txBox="1"/>
          <p:nvPr/>
        </p:nvSpPr>
        <p:spPr>
          <a:xfrm>
            <a:off x="4058851" y="79902"/>
            <a:ext cx="6216926" cy="707886"/>
          </a:xfrm>
          <a:prstGeom prst="rect">
            <a:avLst/>
          </a:prstGeom>
          <a:noFill/>
        </p:spPr>
        <p:txBody>
          <a:bodyPr wrap="square">
            <a:spAutoFit/>
          </a:bodyPr>
          <a:lstStyle/>
          <a:p>
            <a:pPr>
              <a:buNone/>
            </a:pPr>
            <a:r>
              <a:rPr lang="en-IN" sz="4000" b="1" dirty="0">
                <a:solidFill>
                  <a:schemeClr val="tx2">
                    <a:lumMod val="50000"/>
                  </a:schemeClr>
                </a:solidFill>
              </a:rPr>
              <a:t>Functions and Modules</a:t>
            </a:r>
          </a:p>
        </p:txBody>
      </p:sp>
    </p:spTree>
    <p:extLst>
      <p:ext uri="{BB962C8B-B14F-4D97-AF65-F5344CB8AC3E}">
        <p14:creationId xmlns:p14="http://schemas.microsoft.com/office/powerpoint/2010/main" val="1780977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F35859-F027-ADBF-2117-FB9C17D71F4D}"/>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42FEF053-40FA-3A34-29D0-554A0C4E5C20}"/>
              </a:ext>
            </a:extLst>
          </p:cNvPr>
          <p:cNvSpPr>
            <a:spLocks noGrp="1"/>
          </p:cNvSpPr>
          <p:nvPr>
            <p:ph type="ftr" sz="quarter" idx="11"/>
          </p:nvPr>
        </p:nvSpPr>
        <p:spPr/>
        <p:txBody>
          <a:bodyPr/>
          <a:lstStyle/>
          <a:p>
            <a:r>
              <a:rPr lang="en-US"/>
              <a:t>PBL Course Name: Object Oriented Programming through C++(2501CS08)     REVIEW-1</a:t>
            </a:r>
            <a:endParaRPr lang="en-US" dirty="0"/>
          </a:p>
        </p:txBody>
      </p:sp>
      <p:sp>
        <p:nvSpPr>
          <p:cNvPr id="4" name="Slide Number Placeholder 3">
            <a:extLst>
              <a:ext uri="{FF2B5EF4-FFF2-40B4-BE49-F238E27FC236}">
                <a16:creationId xmlns:a16="http://schemas.microsoft.com/office/drawing/2014/main" id="{68CB5013-0484-6E6F-51D1-C8A0E4C5B486}"/>
              </a:ext>
            </a:extLst>
          </p:cNvPr>
          <p:cNvSpPr>
            <a:spLocks noGrp="1"/>
          </p:cNvSpPr>
          <p:nvPr>
            <p:ph type="sldNum" sz="quarter" idx="12"/>
          </p:nvPr>
        </p:nvSpPr>
        <p:spPr/>
        <p:txBody>
          <a:bodyPr/>
          <a:lstStyle/>
          <a:p>
            <a:fld id="{D9C5B093-D3DD-4808-813A-F58BF8E67773}" type="slidenum">
              <a:rPr lang="en-IN" smtClean="0"/>
              <a:t>10</a:t>
            </a:fld>
            <a:endParaRPr lang="en-IN" dirty="0"/>
          </a:p>
        </p:txBody>
      </p:sp>
      <p:sp>
        <p:nvSpPr>
          <p:cNvPr id="6" name="TextBox 5">
            <a:extLst>
              <a:ext uri="{FF2B5EF4-FFF2-40B4-BE49-F238E27FC236}">
                <a16:creationId xmlns:a16="http://schemas.microsoft.com/office/drawing/2014/main" id="{182E1D61-DCAA-7A09-9BAD-12A4728A2CAD}"/>
              </a:ext>
            </a:extLst>
          </p:cNvPr>
          <p:cNvSpPr txBox="1"/>
          <p:nvPr/>
        </p:nvSpPr>
        <p:spPr>
          <a:xfrm>
            <a:off x="1143000" y="1219200"/>
            <a:ext cx="10363200" cy="4893647"/>
          </a:xfrm>
          <a:prstGeom prst="rect">
            <a:avLst/>
          </a:prstGeom>
          <a:noFill/>
        </p:spPr>
        <p:txBody>
          <a:bodyPr wrap="square">
            <a:spAutoFit/>
          </a:bodyPr>
          <a:lstStyle/>
          <a:p>
            <a:pPr>
              <a:buNone/>
            </a:pPr>
            <a:r>
              <a:rPr lang="en-IN" sz="2400" b="1" dirty="0"/>
              <a:t>4. Attendance Percentage Module</a:t>
            </a:r>
          </a:p>
          <a:p>
            <a:pPr marL="342900" lvl="0" indent="-342900">
              <a:buFont typeface="Arial" panose="020B0604020202020204" pitchFamily="34" charset="0"/>
              <a:buChar char="•"/>
            </a:pPr>
            <a:r>
              <a:rPr lang="en-IN" sz="2400" dirty="0" err="1">
                <a:latin typeface="+mn-lt"/>
              </a:rPr>
              <a:t>getAttendancePercentage</a:t>
            </a:r>
            <a:r>
              <a:rPr lang="en-IN" sz="2400" dirty="0">
                <a:latin typeface="+mn-lt"/>
              </a:rPr>
              <a:t>()</a:t>
            </a:r>
            <a:r>
              <a:rPr lang="en-IN" sz="2400" dirty="0"/>
              <a:t> – Calculates attendance percentage.</a:t>
            </a:r>
          </a:p>
          <a:p>
            <a:pPr marL="342900" lvl="0" indent="-342900">
              <a:buFont typeface="Arial" panose="020B0604020202020204" pitchFamily="34" charset="0"/>
              <a:buChar char="•"/>
            </a:pPr>
            <a:r>
              <a:rPr lang="en-IN" sz="2400" dirty="0"/>
              <a:t>Formula: </a:t>
            </a:r>
            <a:r>
              <a:rPr lang="en-IN" sz="2400" b="1" dirty="0"/>
              <a:t>Attendance % = (Present Days / Total Working Days) × 100</a:t>
            </a:r>
            <a:endParaRPr lang="en-IN" sz="2400" dirty="0"/>
          </a:p>
          <a:p>
            <a:pPr marL="342900" lvl="0" indent="-342900">
              <a:buFont typeface="Arial" panose="020B0604020202020204" pitchFamily="34" charset="0"/>
              <a:buChar char="•"/>
            </a:pPr>
            <a:r>
              <a:rPr lang="en-IN" sz="2400" dirty="0"/>
              <a:t>Handles zero working days safely.</a:t>
            </a:r>
          </a:p>
          <a:p>
            <a:pPr>
              <a:buNone/>
            </a:pPr>
            <a:r>
              <a:rPr lang="en-IN" sz="2400" b="1" dirty="0"/>
              <a:t>5. Low Attendance Detection Module</a:t>
            </a:r>
          </a:p>
          <a:p>
            <a:pPr marL="342900" lvl="0" indent="-342900">
              <a:buFont typeface="Arial" panose="020B0604020202020204" pitchFamily="34" charset="0"/>
              <a:buChar char="•"/>
            </a:pPr>
            <a:r>
              <a:rPr lang="en-IN" sz="2400" dirty="0">
                <a:latin typeface="+mn-lt"/>
              </a:rPr>
              <a:t>displayIfBelow75()</a:t>
            </a:r>
            <a:r>
              <a:rPr lang="en-IN" sz="2400" dirty="0"/>
              <a:t> – Checks whether attendance is below </a:t>
            </a:r>
            <a:r>
              <a:rPr lang="en-IN" sz="2400" b="1" dirty="0"/>
              <a:t>75%</a:t>
            </a:r>
            <a:r>
              <a:rPr lang="en-IN" sz="2400" dirty="0"/>
              <a:t>.</a:t>
            </a:r>
          </a:p>
          <a:p>
            <a:pPr marL="342900" lvl="0" indent="-342900">
              <a:buFont typeface="Arial" panose="020B0604020202020204" pitchFamily="34" charset="0"/>
              <a:buChar char="•"/>
            </a:pPr>
            <a:r>
              <a:rPr lang="en-IN" sz="2400" dirty="0"/>
              <a:t>Displays students who have low attendance.</a:t>
            </a:r>
          </a:p>
          <a:p>
            <a:pPr>
              <a:buNone/>
            </a:pPr>
            <a:r>
              <a:rPr lang="en-IN" sz="2400" b="1" dirty="0"/>
              <a:t>6. Display &amp; Menu Module</a:t>
            </a:r>
          </a:p>
          <a:p>
            <a:pPr marL="342900" lvl="0" indent="-342900">
              <a:buFont typeface="Arial" panose="020B0604020202020204" pitchFamily="34" charset="0"/>
              <a:buChar char="•"/>
            </a:pPr>
            <a:r>
              <a:rPr lang="en-IN" sz="2400" dirty="0" err="1">
                <a:latin typeface="+mn-lt"/>
              </a:rPr>
              <a:t>displayStudent</a:t>
            </a:r>
            <a:r>
              <a:rPr lang="en-IN" sz="2400" dirty="0">
                <a:latin typeface="+mn-lt"/>
              </a:rPr>
              <a:t>()</a:t>
            </a:r>
            <a:r>
              <a:rPr lang="en-IN" sz="2400" dirty="0"/>
              <a:t> – Displays roll number, name, and present days.</a:t>
            </a:r>
          </a:p>
          <a:p>
            <a:pPr marL="342900" lvl="0" indent="-342900">
              <a:buFont typeface="Arial" panose="020B0604020202020204" pitchFamily="34" charset="0"/>
              <a:buChar char="•"/>
            </a:pPr>
            <a:r>
              <a:rPr lang="en-IN" sz="2400" dirty="0"/>
              <a:t>Displays all student records.</a:t>
            </a:r>
          </a:p>
          <a:p>
            <a:pPr marL="342900" lvl="0" indent="-342900">
              <a:buFont typeface="Arial" panose="020B0604020202020204" pitchFamily="34" charset="0"/>
              <a:buChar char="•"/>
            </a:pPr>
            <a:r>
              <a:rPr lang="en-IN" sz="2400" dirty="0"/>
              <a:t>Menu provides options for </a:t>
            </a:r>
            <a:r>
              <a:rPr lang="en-IN" sz="2400" b="1" dirty="0"/>
              <a:t>Display, Mark Attendance, Search, Percentage, Low Attendance, and Exit</a:t>
            </a:r>
            <a:r>
              <a:rPr lang="en-IN" sz="2400" dirty="0"/>
              <a:t>.</a:t>
            </a:r>
          </a:p>
          <a:p>
            <a:pPr marL="342900" lvl="0" indent="-342900">
              <a:buFont typeface="Arial" panose="020B0604020202020204" pitchFamily="34" charset="0"/>
              <a:buChar char="•"/>
            </a:pPr>
            <a:r>
              <a:rPr lang="en-IN" sz="2400" dirty="0"/>
              <a:t>Input validation prevents invalid menu and numeric inputs.</a:t>
            </a:r>
          </a:p>
        </p:txBody>
      </p:sp>
      <p:grpSp>
        <p:nvGrpSpPr>
          <p:cNvPr id="5" name="object 3">
            <a:extLst>
              <a:ext uri="{FF2B5EF4-FFF2-40B4-BE49-F238E27FC236}">
                <a16:creationId xmlns:a16="http://schemas.microsoft.com/office/drawing/2014/main" id="{5AA03924-2FC6-6A84-78FF-568C49F68E98}"/>
              </a:ext>
            </a:extLst>
          </p:cNvPr>
          <p:cNvGrpSpPr/>
          <p:nvPr/>
        </p:nvGrpSpPr>
        <p:grpSpPr>
          <a:xfrm>
            <a:off x="3339856" y="209957"/>
            <a:ext cx="6176963" cy="1531480"/>
            <a:chOff x="2648188" y="47148"/>
            <a:chExt cx="5103904" cy="1198311"/>
          </a:xfrm>
        </p:grpSpPr>
        <p:pic>
          <p:nvPicPr>
            <p:cNvPr id="8" name="object 4">
              <a:extLst>
                <a:ext uri="{FF2B5EF4-FFF2-40B4-BE49-F238E27FC236}">
                  <a16:creationId xmlns:a16="http://schemas.microsoft.com/office/drawing/2014/main" id="{8C570304-DF9C-469F-2A53-121DC32F4FEE}"/>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82275A08-1179-C07B-D594-D0A95AE44F2D}"/>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3CEDF78F-6551-C262-397A-C2BAB55499F7}"/>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D1BCCD6B-7259-CF7A-6BCE-401195C4008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3" name="TextBox 12">
            <a:extLst>
              <a:ext uri="{FF2B5EF4-FFF2-40B4-BE49-F238E27FC236}">
                <a16:creationId xmlns:a16="http://schemas.microsoft.com/office/drawing/2014/main" id="{9A6C0747-80B5-1F06-76BA-11668D258C02}"/>
              </a:ext>
            </a:extLst>
          </p:cNvPr>
          <p:cNvSpPr txBox="1"/>
          <p:nvPr/>
        </p:nvSpPr>
        <p:spPr>
          <a:xfrm>
            <a:off x="3733800" y="440948"/>
            <a:ext cx="6216926" cy="707886"/>
          </a:xfrm>
          <a:prstGeom prst="rect">
            <a:avLst/>
          </a:prstGeom>
          <a:noFill/>
        </p:spPr>
        <p:txBody>
          <a:bodyPr wrap="square">
            <a:spAutoFit/>
          </a:bodyPr>
          <a:lstStyle/>
          <a:p>
            <a:pPr>
              <a:buNone/>
            </a:pPr>
            <a:r>
              <a:rPr lang="en-IN" sz="4000" b="1" dirty="0">
                <a:solidFill>
                  <a:schemeClr val="tx2">
                    <a:lumMod val="75000"/>
                  </a:schemeClr>
                </a:solidFill>
              </a:rPr>
              <a:t>Functions and Modules</a:t>
            </a:r>
          </a:p>
        </p:txBody>
      </p:sp>
    </p:spTree>
    <p:extLst>
      <p:ext uri="{BB962C8B-B14F-4D97-AF65-F5344CB8AC3E}">
        <p14:creationId xmlns:p14="http://schemas.microsoft.com/office/powerpoint/2010/main" val="2018655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583C89-14E9-4E33-DD22-A4A57CC09BAC}"/>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F7FE23BD-FC7D-2FD3-BFD5-E94218E52F49}"/>
              </a:ext>
            </a:extLst>
          </p:cNvPr>
          <p:cNvSpPr>
            <a:spLocks noGrp="1"/>
          </p:cNvSpPr>
          <p:nvPr>
            <p:ph type="ftr" sz="quarter" idx="11"/>
          </p:nvPr>
        </p:nvSpPr>
        <p:spPr/>
        <p:txBody>
          <a:bodyPr/>
          <a:lstStyle/>
          <a:p>
            <a:r>
              <a:rPr lang="en-US"/>
              <a:t>PBL Course Name: Object Oriented Programming through C++(2501CS08)     REVIEW-1</a:t>
            </a:r>
            <a:endParaRPr lang="en-US" dirty="0"/>
          </a:p>
        </p:txBody>
      </p:sp>
      <p:sp>
        <p:nvSpPr>
          <p:cNvPr id="4" name="Slide Number Placeholder 3">
            <a:extLst>
              <a:ext uri="{FF2B5EF4-FFF2-40B4-BE49-F238E27FC236}">
                <a16:creationId xmlns:a16="http://schemas.microsoft.com/office/drawing/2014/main" id="{52B200C2-21BD-BAAF-F45E-176CB198CBB4}"/>
              </a:ext>
            </a:extLst>
          </p:cNvPr>
          <p:cNvSpPr>
            <a:spLocks noGrp="1"/>
          </p:cNvSpPr>
          <p:nvPr>
            <p:ph type="sldNum" sz="quarter" idx="12"/>
          </p:nvPr>
        </p:nvSpPr>
        <p:spPr/>
        <p:txBody>
          <a:bodyPr/>
          <a:lstStyle/>
          <a:p>
            <a:fld id="{D9C5B093-D3DD-4808-813A-F58BF8E67773}" type="slidenum">
              <a:rPr lang="en-IN" smtClean="0"/>
              <a:t>11</a:t>
            </a:fld>
            <a:endParaRPr lang="en-IN" dirty="0"/>
          </a:p>
        </p:txBody>
      </p:sp>
      <p:sp>
        <p:nvSpPr>
          <p:cNvPr id="6" name="TextBox 5">
            <a:extLst>
              <a:ext uri="{FF2B5EF4-FFF2-40B4-BE49-F238E27FC236}">
                <a16:creationId xmlns:a16="http://schemas.microsoft.com/office/drawing/2014/main" id="{221DB0D1-3245-B371-82CB-D885E05ABDF1}"/>
              </a:ext>
            </a:extLst>
          </p:cNvPr>
          <p:cNvSpPr txBox="1"/>
          <p:nvPr/>
        </p:nvSpPr>
        <p:spPr>
          <a:xfrm>
            <a:off x="457200" y="1295400"/>
            <a:ext cx="7315200" cy="3693319"/>
          </a:xfrm>
          <a:prstGeom prst="rect">
            <a:avLst/>
          </a:prstGeom>
          <a:noFill/>
        </p:spPr>
        <p:txBody>
          <a:bodyPr wrap="square">
            <a:spAutoFit/>
          </a:bodyPr>
          <a:lstStyle/>
          <a:p>
            <a:pPr marL="342900" lvl="0" indent="-342900">
              <a:buFont typeface="Wingdings" panose="05000000000000000000" pitchFamily="2" charset="2"/>
              <a:buChar char="Ø"/>
            </a:pPr>
            <a:r>
              <a:rPr lang="en-IN" dirty="0"/>
              <a:t>The system is implemented using </a:t>
            </a:r>
            <a:r>
              <a:rPr lang="en-IN" b="1" dirty="0"/>
              <a:t>C++</a:t>
            </a:r>
            <a:r>
              <a:rPr lang="en-IN" dirty="0"/>
              <a:t> and </a:t>
            </a:r>
            <a:r>
              <a:rPr lang="en-IN" b="1" dirty="0"/>
              <a:t>Object-Oriented Programming (OOP)</a:t>
            </a:r>
            <a:r>
              <a:rPr lang="en-IN" dirty="0"/>
              <a:t> concepts.</a:t>
            </a:r>
          </a:p>
          <a:p>
            <a:pPr marL="342900" lvl="0" indent="-342900">
              <a:buFont typeface="Wingdings" panose="05000000000000000000" pitchFamily="2" charset="2"/>
              <a:buChar char="Ø"/>
            </a:pPr>
            <a:r>
              <a:rPr lang="en-IN" dirty="0"/>
              <a:t>A </a:t>
            </a:r>
            <a:r>
              <a:rPr lang="en-IN" dirty="0">
                <a:latin typeface="+mn-lt"/>
              </a:rPr>
              <a:t>Student</a:t>
            </a:r>
            <a:r>
              <a:rPr lang="en-IN" dirty="0"/>
              <a:t> class is used to store </a:t>
            </a:r>
            <a:r>
              <a:rPr lang="en-IN" b="1" dirty="0"/>
              <a:t>roll number, student name, and attendance count</a:t>
            </a:r>
            <a:r>
              <a:rPr lang="en-IN" dirty="0"/>
              <a:t>.</a:t>
            </a:r>
          </a:p>
          <a:p>
            <a:pPr marL="342900" lvl="0" indent="-342900">
              <a:buFont typeface="Wingdings" panose="05000000000000000000" pitchFamily="2" charset="2"/>
              <a:buChar char="Ø"/>
            </a:pPr>
            <a:r>
              <a:rPr lang="en-IN" dirty="0"/>
              <a:t>An array of student objects stores the details of up to </a:t>
            </a:r>
            <a:r>
              <a:rPr lang="en-IN" b="1" dirty="0"/>
              <a:t>10 students</a:t>
            </a:r>
            <a:r>
              <a:rPr lang="en-IN" dirty="0"/>
              <a:t>.</a:t>
            </a:r>
          </a:p>
          <a:p>
            <a:pPr marL="342900" lvl="0" indent="-342900">
              <a:buFont typeface="Wingdings" panose="05000000000000000000" pitchFamily="2" charset="2"/>
              <a:buChar char="Ø"/>
            </a:pPr>
            <a:r>
              <a:rPr lang="en-IN" dirty="0"/>
              <a:t>Student details are entered using the </a:t>
            </a:r>
            <a:r>
              <a:rPr lang="en-IN" dirty="0" err="1">
                <a:latin typeface="+mn-lt"/>
              </a:rPr>
              <a:t>addStudent</a:t>
            </a:r>
            <a:r>
              <a:rPr lang="en-IN" dirty="0">
                <a:latin typeface="+mn-lt"/>
              </a:rPr>
              <a:t>()</a:t>
            </a:r>
            <a:r>
              <a:rPr lang="en-IN" dirty="0"/>
              <a:t> function.</a:t>
            </a:r>
          </a:p>
          <a:p>
            <a:pPr marL="342900" lvl="0" indent="-342900">
              <a:buFont typeface="Wingdings" panose="05000000000000000000" pitchFamily="2" charset="2"/>
              <a:buChar char="Ø"/>
            </a:pPr>
            <a:r>
              <a:rPr lang="en-IN" dirty="0"/>
              <a:t>Attendance is marked using </a:t>
            </a:r>
            <a:r>
              <a:rPr lang="en-IN" b="1" dirty="0"/>
              <a:t>Y/N input</a:t>
            </a:r>
            <a:r>
              <a:rPr lang="en-IN" dirty="0"/>
              <a:t> for each student.</a:t>
            </a:r>
          </a:p>
          <a:p>
            <a:pPr marL="342900" lvl="0" indent="-342900">
              <a:buFont typeface="Wingdings" panose="05000000000000000000" pitchFamily="2" charset="2"/>
              <a:buChar char="Ø"/>
            </a:pPr>
            <a:r>
              <a:rPr lang="en-IN" dirty="0"/>
              <a:t>The system calculates attendance percentage using the total working days.</a:t>
            </a:r>
          </a:p>
          <a:p>
            <a:pPr marL="342900" lvl="0" indent="-342900">
              <a:buFont typeface="Wingdings" panose="05000000000000000000" pitchFamily="2" charset="2"/>
              <a:buChar char="Ø"/>
            </a:pPr>
            <a:r>
              <a:rPr lang="en-IN" dirty="0"/>
              <a:t>Students with attendance </a:t>
            </a:r>
            <a:r>
              <a:rPr lang="en-IN" b="1" dirty="0"/>
              <a:t>below 75%</a:t>
            </a:r>
            <a:r>
              <a:rPr lang="en-IN" dirty="0"/>
              <a:t> are automatically identified.</a:t>
            </a:r>
          </a:p>
          <a:p>
            <a:pPr marL="342900" lvl="0" indent="-342900">
              <a:buFont typeface="Wingdings" panose="05000000000000000000" pitchFamily="2" charset="2"/>
              <a:buChar char="Ø"/>
            </a:pPr>
            <a:r>
              <a:rPr lang="en-IN" dirty="0"/>
              <a:t>A menu-driven interface allows the user to </a:t>
            </a:r>
            <a:r>
              <a:rPr lang="en-IN" b="1" dirty="0"/>
              <a:t>display, mark attendance, search, calculate percentage, detect low attendance, and exit</a:t>
            </a:r>
            <a:r>
              <a:rPr lang="en-IN" dirty="0"/>
              <a:t>.</a:t>
            </a:r>
          </a:p>
          <a:p>
            <a:pPr marL="342900" lvl="0" indent="-342900">
              <a:buFont typeface="Wingdings" panose="05000000000000000000" pitchFamily="2" charset="2"/>
              <a:buChar char="Ø"/>
            </a:pPr>
            <a:r>
              <a:rPr lang="en-IN" dirty="0"/>
              <a:t>Input validation is included to handle invalid numeric and menu inputs.</a:t>
            </a:r>
          </a:p>
        </p:txBody>
      </p:sp>
      <p:grpSp>
        <p:nvGrpSpPr>
          <p:cNvPr id="5" name="object 3">
            <a:extLst>
              <a:ext uri="{FF2B5EF4-FFF2-40B4-BE49-F238E27FC236}">
                <a16:creationId xmlns:a16="http://schemas.microsoft.com/office/drawing/2014/main" id="{B306B9FB-27EE-1319-DF0F-F832526F34FA}"/>
              </a:ext>
            </a:extLst>
          </p:cNvPr>
          <p:cNvGrpSpPr/>
          <p:nvPr/>
        </p:nvGrpSpPr>
        <p:grpSpPr>
          <a:xfrm>
            <a:off x="3733800" y="207478"/>
            <a:ext cx="5334000" cy="1392722"/>
            <a:chOff x="2648188" y="47148"/>
            <a:chExt cx="5103904" cy="1198311"/>
          </a:xfrm>
        </p:grpSpPr>
        <p:pic>
          <p:nvPicPr>
            <p:cNvPr id="8" name="object 4">
              <a:extLst>
                <a:ext uri="{FF2B5EF4-FFF2-40B4-BE49-F238E27FC236}">
                  <a16:creationId xmlns:a16="http://schemas.microsoft.com/office/drawing/2014/main" id="{C588112C-92EE-E429-96AA-37B0AEAAE488}"/>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21010D6-D020-1D29-76BA-BCFAC3CC2426}"/>
                </a:ext>
              </a:extLst>
            </p:cNvPr>
            <p:cNvPicPr/>
            <p:nvPr/>
          </p:nvPicPr>
          <p:blipFill>
            <a:blip r:embed="rId3" cstate="print"/>
            <a:stretch>
              <a:fillRect/>
            </a:stretch>
          </p:blipFill>
          <p:spPr>
            <a:xfrm>
              <a:off x="2701256" y="120050"/>
              <a:ext cx="4997767" cy="1092279"/>
            </a:xfrm>
            <a:prstGeom prst="rect">
              <a:avLst/>
            </a:prstGeom>
          </p:spPr>
        </p:pic>
        <p:pic>
          <p:nvPicPr>
            <p:cNvPr id="10" name="object 6">
              <a:extLst>
                <a:ext uri="{FF2B5EF4-FFF2-40B4-BE49-F238E27FC236}">
                  <a16:creationId xmlns:a16="http://schemas.microsoft.com/office/drawing/2014/main" id="{DD473484-214D-D792-A632-4B6EE57E92AD}"/>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2691853E-0689-4552-7951-FCCD9B213AF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3" name="TextBox 12">
            <a:extLst>
              <a:ext uri="{FF2B5EF4-FFF2-40B4-BE49-F238E27FC236}">
                <a16:creationId xmlns:a16="http://schemas.microsoft.com/office/drawing/2014/main" id="{E4419821-2682-03CB-6AEB-A564869C68D2}"/>
              </a:ext>
            </a:extLst>
          </p:cNvPr>
          <p:cNvSpPr txBox="1"/>
          <p:nvPr/>
        </p:nvSpPr>
        <p:spPr>
          <a:xfrm>
            <a:off x="4343400" y="315410"/>
            <a:ext cx="6216926" cy="707886"/>
          </a:xfrm>
          <a:prstGeom prst="rect">
            <a:avLst/>
          </a:prstGeom>
          <a:noFill/>
        </p:spPr>
        <p:txBody>
          <a:bodyPr wrap="square">
            <a:spAutoFit/>
          </a:bodyPr>
          <a:lstStyle/>
          <a:p>
            <a:pPr>
              <a:buNone/>
            </a:pPr>
            <a:r>
              <a:rPr lang="en-IN" sz="4000" b="1" dirty="0">
                <a:solidFill>
                  <a:schemeClr val="tx2">
                    <a:lumMod val="50000"/>
                  </a:schemeClr>
                </a:solidFill>
              </a:rPr>
              <a:t>Implementation</a:t>
            </a:r>
          </a:p>
        </p:txBody>
      </p:sp>
      <p:pic>
        <p:nvPicPr>
          <p:cNvPr id="15" name="Picture 14">
            <a:extLst>
              <a:ext uri="{FF2B5EF4-FFF2-40B4-BE49-F238E27FC236}">
                <a16:creationId xmlns:a16="http://schemas.microsoft.com/office/drawing/2014/main" id="{6E22AE53-85EE-BB70-E9EE-575D35D428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13560" y="1255953"/>
            <a:ext cx="4326040" cy="3765896"/>
          </a:xfrm>
          <a:prstGeom prst="rect">
            <a:avLst/>
          </a:prstGeom>
        </p:spPr>
      </p:pic>
    </p:spTree>
    <p:extLst>
      <p:ext uri="{BB962C8B-B14F-4D97-AF65-F5344CB8AC3E}">
        <p14:creationId xmlns:p14="http://schemas.microsoft.com/office/powerpoint/2010/main" val="1040414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C78ECA-EC6E-FAE4-5D70-0905CF9EC6C5}"/>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C0A416A7-B1F3-2329-FD8A-FFF1EB0801B5}"/>
              </a:ext>
            </a:extLst>
          </p:cNvPr>
          <p:cNvSpPr>
            <a:spLocks noGrp="1"/>
          </p:cNvSpPr>
          <p:nvPr>
            <p:ph type="ftr" sz="quarter" idx="11"/>
          </p:nvPr>
        </p:nvSpPr>
        <p:spPr/>
        <p:txBody>
          <a:bodyPr/>
          <a:lstStyle/>
          <a:p>
            <a:r>
              <a:rPr lang="en-US"/>
              <a:t>PBL Course Name: Object Oriented Programming through C++(2501CS08)     REVIEW-1</a:t>
            </a:r>
            <a:endParaRPr lang="en-US" dirty="0"/>
          </a:p>
        </p:txBody>
      </p:sp>
      <p:sp>
        <p:nvSpPr>
          <p:cNvPr id="4" name="Slide Number Placeholder 3">
            <a:extLst>
              <a:ext uri="{FF2B5EF4-FFF2-40B4-BE49-F238E27FC236}">
                <a16:creationId xmlns:a16="http://schemas.microsoft.com/office/drawing/2014/main" id="{A27B378D-7D2C-0251-84C4-AC4BE2C6653C}"/>
              </a:ext>
            </a:extLst>
          </p:cNvPr>
          <p:cNvSpPr>
            <a:spLocks noGrp="1"/>
          </p:cNvSpPr>
          <p:nvPr>
            <p:ph type="sldNum" sz="quarter" idx="12"/>
          </p:nvPr>
        </p:nvSpPr>
        <p:spPr/>
        <p:txBody>
          <a:bodyPr/>
          <a:lstStyle/>
          <a:p>
            <a:fld id="{D9C5B093-D3DD-4808-813A-F58BF8E67773}" type="slidenum">
              <a:rPr lang="en-IN" smtClean="0"/>
              <a:t>12</a:t>
            </a:fld>
            <a:endParaRPr lang="en-IN" dirty="0"/>
          </a:p>
        </p:txBody>
      </p:sp>
      <p:sp>
        <p:nvSpPr>
          <p:cNvPr id="6" name="TextBox 5">
            <a:extLst>
              <a:ext uri="{FF2B5EF4-FFF2-40B4-BE49-F238E27FC236}">
                <a16:creationId xmlns:a16="http://schemas.microsoft.com/office/drawing/2014/main" id="{A70E96C2-E2E2-58E1-EAA7-90C57770925C}"/>
              </a:ext>
            </a:extLst>
          </p:cNvPr>
          <p:cNvSpPr txBox="1"/>
          <p:nvPr/>
        </p:nvSpPr>
        <p:spPr>
          <a:xfrm>
            <a:off x="1364974" y="1219200"/>
            <a:ext cx="9982200" cy="4893647"/>
          </a:xfrm>
          <a:prstGeom prst="rect">
            <a:avLst/>
          </a:prstGeom>
          <a:noFill/>
        </p:spPr>
        <p:txBody>
          <a:bodyPr wrap="square">
            <a:spAutoFit/>
          </a:bodyPr>
          <a:lstStyle/>
          <a:p>
            <a:pPr marL="342900" lvl="0" indent="-342900">
              <a:buFont typeface="Arial" panose="020B0604020202020204" pitchFamily="34" charset="0"/>
              <a:buChar char="•"/>
            </a:pPr>
            <a:r>
              <a:rPr lang="en-IN" sz="2400" b="1" dirty="0"/>
              <a:t>Classes and Objects</a:t>
            </a:r>
            <a:r>
              <a:rPr lang="en-IN" sz="2400" dirty="0"/>
              <a:t> – </a:t>
            </a:r>
            <a:r>
              <a:rPr lang="en-IN" sz="2400" dirty="0">
                <a:latin typeface="+mn-lt"/>
              </a:rPr>
              <a:t>Student</a:t>
            </a:r>
            <a:r>
              <a:rPr lang="en-IN" sz="2400" dirty="0"/>
              <a:t> class is used to represent each student.</a:t>
            </a:r>
          </a:p>
          <a:p>
            <a:pPr marL="342900" lvl="0" indent="-342900">
              <a:buFont typeface="Arial" panose="020B0604020202020204" pitchFamily="34" charset="0"/>
              <a:buChar char="•"/>
            </a:pPr>
            <a:r>
              <a:rPr lang="en-IN" sz="2400" b="1" dirty="0"/>
              <a:t>Encapsulation</a:t>
            </a:r>
            <a:r>
              <a:rPr lang="en-IN" sz="2400" dirty="0"/>
              <a:t> – Student data such as </a:t>
            </a:r>
            <a:r>
              <a:rPr lang="en-IN" sz="2400" dirty="0" err="1">
                <a:latin typeface="+mn-lt"/>
              </a:rPr>
              <a:t>rollNo</a:t>
            </a:r>
            <a:r>
              <a:rPr lang="en-IN" sz="2400" dirty="0"/>
              <a:t>, </a:t>
            </a:r>
            <a:r>
              <a:rPr lang="en-IN" sz="2400" dirty="0">
                <a:latin typeface="+mn-lt"/>
              </a:rPr>
              <a:t>name</a:t>
            </a:r>
            <a:r>
              <a:rPr lang="en-IN" sz="2400" dirty="0"/>
              <a:t>, and </a:t>
            </a:r>
            <a:r>
              <a:rPr lang="en-IN" sz="2400" dirty="0">
                <a:latin typeface="+mn-lt"/>
              </a:rPr>
              <a:t>attendance</a:t>
            </a:r>
            <a:r>
              <a:rPr lang="en-IN" sz="2400" dirty="0"/>
              <a:t> is kept private and accessed through public functions.</a:t>
            </a:r>
          </a:p>
          <a:p>
            <a:pPr marL="342900" lvl="0" indent="-342900">
              <a:buFont typeface="Arial" panose="020B0604020202020204" pitchFamily="34" charset="0"/>
              <a:buChar char="•"/>
            </a:pPr>
            <a:r>
              <a:rPr lang="en-IN" sz="2400" b="1" dirty="0"/>
              <a:t>Member Functions</a:t>
            </a:r>
            <a:r>
              <a:rPr lang="en-IN" sz="2400" dirty="0"/>
              <a:t> – Functions such as </a:t>
            </a:r>
            <a:r>
              <a:rPr lang="en-IN" sz="2400" dirty="0" err="1">
                <a:latin typeface="+mn-lt"/>
              </a:rPr>
              <a:t>addStudent</a:t>
            </a:r>
            <a:r>
              <a:rPr lang="en-IN" sz="2400" dirty="0">
                <a:latin typeface="+mn-lt"/>
              </a:rPr>
              <a:t>()</a:t>
            </a:r>
            <a:r>
              <a:rPr lang="en-IN" sz="2400" dirty="0"/>
              <a:t>, </a:t>
            </a:r>
            <a:r>
              <a:rPr lang="en-IN" sz="2400" dirty="0" err="1">
                <a:latin typeface="+mn-lt"/>
              </a:rPr>
              <a:t>markAttendance</a:t>
            </a:r>
            <a:r>
              <a:rPr lang="en-IN" sz="2400" dirty="0">
                <a:latin typeface="+mn-lt"/>
              </a:rPr>
              <a:t>()</a:t>
            </a:r>
            <a:r>
              <a:rPr lang="en-IN" sz="2400" dirty="0"/>
              <a:t>, and </a:t>
            </a:r>
            <a:r>
              <a:rPr lang="en-IN" sz="2400" dirty="0" err="1">
                <a:latin typeface="+mn-lt"/>
              </a:rPr>
              <a:t>displayStudent</a:t>
            </a:r>
            <a:r>
              <a:rPr lang="en-IN" sz="2400" dirty="0">
                <a:latin typeface="+mn-lt"/>
              </a:rPr>
              <a:t>()</a:t>
            </a:r>
            <a:r>
              <a:rPr lang="en-IN" sz="2400" dirty="0"/>
              <a:t> perform specific operations.</a:t>
            </a:r>
          </a:p>
          <a:p>
            <a:pPr marL="342900" lvl="0" indent="-342900">
              <a:buFont typeface="Arial" panose="020B0604020202020204" pitchFamily="34" charset="0"/>
              <a:buChar char="•"/>
            </a:pPr>
            <a:r>
              <a:rPr lang="en-IN" sz="2400" b="1" dirty="0"/>
              <a:t>Arrays of Objects</a:t>
            </a:r>
            <a:r>
              <a:rPr lang="en-IN" sz="2400" dirty="0"/>
              <a:t> – </a:t>
            </a:r>
            <a:r>
              <a:rPr lang="en-IN" sz="2400" dirty="0">
                <a:latin typeface="+mn-lt"/>
              </a:rPr>
              <a:t>Student s[10]</a:t>
            </a:r>
            <a:r>
              <a:rPr lang="en-IN" sz="2400" dirty="0"/>
              <a:t> stores details of multiple students.</a:t>
            </a:r>
          </a:p>
          <a:p>
            <a:pPr marL="342900" lvl="0" indent="-342900">
              <a:buFont typeface="Arial" panose="020B0604020202020204" pitchFamily="34" charset="0"/>
              <a:buChar char="•"/>
            </a:pPr>
            <a:r>
              <a:rPr lang="en-IN" sz="2400" b="1" dirty="0"/>
              <a:t>Access Specifiers</a:t>
            </a:r>
            <a:r>
              <a:rPr lang="en-IN" sz="2400" dirty="0"/>
              <a:t> – </a:t>
            </a:r>
            <a:r>
              <a:rPr lang="en-IN" sz="2400" dirty="0">
                <a:latin typeface="+mn-lt"/>
              </a:rPr>
              <a:t>private</a:t>
            </a:r>
            <a:r>
              <a:rPr lang="en-IN" sz="2400" dirty="0"/>
              <a:t> protects data, while </a:t>
            </a:r>
            <a:r>
              <a:rPr lang="en-IN" sz="2400" dirty="0">
                <a:latin typeface="+mn-lt"/>
              </a:rPr>
              <a:t>public</a:t>
            </a:r>
            <a:r>
              <a:rPr lang="en-IN" sz="2400" dirty="0"/>
              <a:t> provides access to required functions.</a:t>
            </a:r>
          </a:p>
          <a:p>
            <a:pPr marL="342900" lvl="0" indent="-342900">
              <a:buFont typeface="Arial" panose="020B0604020202020204" pitchFamily="34" charset="0"/>
              <a:buChar char="•"/>
            </a:pPr>
            <a:r>
              <a:rPr lang="en-IN" sz="2400" b="1" dirty="0"/>
              <a:t>Control Statements</a:t>
            </a:r>
            <a:r>
              <a:rPr lang="en-IN" sz="2400" dirty="0"/>
              <a:t> – </a:t>
            </a:r>
            <a:r>
              <a:rPr lang="en-IN" sz="2400" dirty="0">
                <a:latin typeface="+mn-lt"/>
              </a:rPr>
              <a:t>if-else</a:t>
            </a:r>
            <a:r>
              <a:rPr lang="en-IN" sz="2400" dirty="0"/>
              <a:t>, </a:t>
            </a:r>
            <a:r>
              <a:rPr lang="en-IN" sz="2400" dirty="0">
                <a:latin typeface="+mn-lt"/>
              </a:rPr>
              <a:t>switch</a:t>
            </a:r>
            <a:r>
              <a:rPr lang="en-IN" sz="2400" dirty="0"/>
              <a:t>, </a:t>
            </a:r>
            <a:r>
              <a:rPr lang="en-IN" sz="2400" dirty="0">
                <a:latin typeface="+mn-lt"/>
              </a:rPr>
              <a:t>while</a:t>
            </a:r>
            <a:r>
              <a:rPr lang="en-IN" sz="2400" dirty="0"/>
              <a:t>, and </a:t>
            </a:r>
            <a:r>
              <a:rPr lang="en-IN" sz="2400" dirty="0">
                <a:latin typeface="+mn-lt"/>
              </a:rPr>
              <a:t>do-while</a:t>
            </a:r>
            <a:r>
              <a:rPr lang="en-IN" sz="2400" dirty="0"/>
              <a:t> are used for decision-making and program flow.</a:t>
            </a:r>
          </a:p>
          <a:p>
            <a:pPr marL="342900" lvl="0" indent="-342900">
              <a:buFont typeface="Arial" panose="020B0604020202020204" pitchFamily="34" charset="0"/>
              <a:buChar char="•"/>
            </a:pPr>
            <a:r>
              <a:rPr lang="en-IN" sz="2400" b="1" dirty="0"/>
              <a:t>Input Validation</a:t>
            </a:r>
            <a:r>
              <a:rPr lang="en-IN" sz="2400" dirty="0"/>
              <a:t> – </a:t>
            </a:r>
            <a:r>
              <a:rPr lang="en-IN" sz="2400" dirty="0" err="1">
                <a:latin typeface="+mn-lt"/>
              </a:rPr>
              <a:t>cin.clear</a:t>
            </a:r>
            <a:r>
              <a:rPr lang="en-IN" sz="2400" dirty="0">
                <a:latin typeface="+mn-lt"/>
              </a:rPr>
              <a:t>()</a:t>
            </a:r>
            <a:r>
              <a:rPr lang="en-IN" sz="2400" dirty="0"/>
              <a:t> and </a:t>
            </a:r>
            <a:r>
              <a:rPr lang="en-IN" sz="2400" dirty="0" err="1">
                <a:latin typeface="+mn-lt"/>
              </a:rPr>
              <a:t>cin.ignore</a:t>
            </a:r>
            <a:r>
              <a:rPr lang="en-IN" sz="2400" dirty="0">
                <a:latin typeface="+mn-lt"/>
              </a:rPr>
              <a:t>()</a:t>
            </a:r>
            <a:r>
              <a:rPr lang="en-IN" sz="2400" dirty="0"/>
              <a:t> handle invalid user input.</a:t>
            </a:r>
          </a:p>
          <a:p>
            <a:pPr marL="342900" lvl="0" indent="-342900">
              <a:buFont typeface="Arial" panose="020B0604020202020204" pitchFamily="34" charset="0"/>
              <a:buChar char="•"/>
            </a:pPr>
            <a:r>
              <a:rPr lang="en-IN" sz="2400" b="1" dirty="0"/>
              <a:t>Functions with Parameters and Return Values</a:t>
            </a:r>
            <a:r>
              <a:rPr lang="en-IN" sz="2400" dirty="0"/>
              <a:t> – Used for attendance percentage calculation and student searching.</a:t>
            </a:r>
          </a:p>
        </p:txBody>
      </p:sp>
      <p:grpSp>
        <p:nvGrpSpPr>
          <p:cNvPr id="8" name="object 3">
            <a:extLst>
              <a:ext uri="{FF2B5EF4-FFF2-40B4-BE49-F238E27FC236}">
                <a16:creationId xmlns:a16="http://schemas.microsoft.com/office/drawing/2014/main" id="{C09C3515-D0CC-523B-691D-50E324BC22D5}"/>
              </a:ext>
            </a:extLst>
          </p:cNvPr>
          <p:cNvGrpSpPr/>
          <p:nvPr/>
        </p:nvGrpSpPr>
        <p:grpSpPr>
          <a:xfrm>
            <a:off x="4026352" y="334443"/>
            <a:ext cx="5463963" cy="1282507"/>
            <a:chOff x="2648188" y="47148"/>
            <a:chExt cx="5103904" cy="1198311"/>
          </a:xfrm>
        </p:grpSpPr>
        <p:pic>
          <p:nvPicPr>
            <p:cNvPr id="9" name="object 4">
              <a:extLst>
                <a:ext uri="{FF2B5EF4-FFF2-40B4-BE49-F238E27FC236}">
                  <a16:creationId xmlns:a16="http://schemas.microsoft.com/office/drawing/2014/main" id="{814080C9-C2CD-E6CC-BA9B-6EA040506C09}"/>
                </a:ext>
              </a:extLst>
            </p:cNvPr>
            <p:cNvPicPr/>
            <p:nvPr/>
          </p:nvPicPr>
          <p:blipFill>
            <a:blip r:embed="rId2" cstate="print"/>
            <a:stretch>
              <a:fillRect/>
            </a:stretch>
          </p:blipFill>
          <p:spPr>
            <a:xfrm>
              <a:off x="2648188" y="47148"/>
              <a:ext cx="5103904" cy="1198311"/>
            </a:xfrm>
            <a:prstGeom prst="rect">
              <a:avLst/>
            </a:prstGeom>
          </p:spPr>
        </p:pic>
        <p:pic>
          <p:nvPicPr>
            <p:cNvPr id="10" name="object 5">
              <a:extLst>
                <a:ext uri="{FF2B5EF4-FFF2-40B4-BE49-F238E27FC236}">
                  <a16:creationId xmlns:a16="http://schemas.microsoft.com/office/drawing/2014/main" id="{82DE1D37-1FB7-6D23-30A0-FA66D2469F88}"/>
                </a:ext>
              </a:extLst>
            </p:cNvPr>
            <p:cNvPicPr/>
            <p:nvPr/>
          </p:nvPicPr>
          <p:blipFill>
            <a:blip r:embed="rId3" cstate="print"/>
            <a:stretch>
              <a:fillRect/>
            </a:stretch>
          </p:blipFill>
          <p:spPr>
            <a:xfrm>
              <a:off x="2726472" y="100163"/>
              <a:ext cx="5016336" cy="1092279"/>
            </a:xfrm>
            <a:prstGeom prst="rect">
              <a:avLst/>
            </a:prstGeom>
          </p:spPr>
        </p:pic>
        <p:sp>
          <p:nvSpPr>
            <p:cNvPr id="12" name="object 7">
              <a:extLst>
                <a:ext uri="{FF2B5EF4-FFF2-40B4-BE49-F238E27FC236}">
                  <a16:creationId xmlns:a16="http://schemas.microsoft.com/office/drawing/2014/main" id="{73F87C7A-8DF6-07DE-73F0-A0E10854053D}"/>
                </a:ext>
              </a:extLst>
            </p:cNvPr>
            <p:cNvSpPr/>
            <p:nvPr/>
          </p:nvSpPr>
          <p:spPr>
            <a:xfrm>
              <a:off x="2769234" y="211255"/>
              <a:ext cx="4861812" cy="498460"/>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ctr"/>
              <a:r>
                <a:rPr sz="4000" dirty="0">
                  <a:solidFill>
                    <a:schemeClr val="tx2">
                      <a:lumMod val="50000"/>
                    </a:schemeClr>
                  </a:solidFill>
                </a:rPr>
                <a:t>C++ Concepts</a:t>
              </a:r>
            </a:p>
          </p:txBody>
        </p:sp>
      </p:grpSp>
    </p:spTree>
    <p:extLst>
      <p:ext uri="{BB962C8B-B14F-4D97-AF65-F5344CB8AC3E}">
        <p14:creationId xmlns:p14="http://schemas.microsoft.com/office/powerpoint/2010/main" val="982859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6F5A5F-C1C5-8DE0-3466-B5F05E8B41D4}"/>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679589AF-C2D1-426D-7E86-E638F8548779}"/>
              </a:ext>
            </a:extLst>
          </p:cNvPr>
          <p:cNvSpPr>
            <a:spLocks noGrp="1"/>
          </p:cNvSpPr>
          <p:nvPr>
            <p:ph type="ftr" sz="quarter" idx="11"/>
          </p:nvPr>
        </p:nvSpPr>
        <p:spPr/>
        <p:txBody>
          <a:bodyPr/>
          <a:lstStyle/>
          <a:p>
            <a:r>
              <a:rPr lang="en-US"/>
              <a:t>PBL Course Name: Object Oriented Programming through C++(2501CS08)     REVIEW-1</a:t>
            </a:r>
            <a:endParaRPr lang="en-US" dirty="0"/>
          </a:p>
        </p:txBody>
      </p:sp>
      <p:sp>
        <p:nvSpPr>
          <p:cNvPr id="4" name="Slide Number Placeholder 3">
            <a:extLst>
              <a:ext uri="{FF2B5EF4-FFF2-40B4-BE49-F238E27FC236}">
                <a16:creationId xmlns:a16="http://schemas.microsoft.com/office/drawing/2014/main" id="{CDEB63AD-D8A6-96C6-A2A9-9AB04982EF9A}"/>
              </a:ext>
            </a:extLst>
          </p:cNvPr>
          <p:cNvSpPr>
            <a:spLocks noGrp="1"/>
          </p:cNvSpPr>
          <p:nvPr>
            <p:ph type="sldNum" sz="quarter" idx="12"/>
          </p:nvPr>
        </p:nvSpPr>
        <p:spPr/>
        <p:txBody>
          <a:bodyPr/>
          <a:lstStyle/>
          <a:p>
            <a:fld id="{D9C5B093-D3DD-4808-813A-F58BF8E67773}" type="slidenum">
              <a:rPr lang="en-IN" smtClean="0"/>
              <a:t>13</a:t>
            </a:fld>
            <a:endParaRPr lang="en-IN" dirty="0"/>
          </a:p>
        </p:txBody>
      </p:sp>
      <p:sp>
        <p:nvSpPr>
          <p:cNvPr id="6" name="TextBox 5">
            <a:extLst>
              <a:ext uri="{FF2B5EF4-FFF2-40B4-BE49-F238E27FC236}">
                <a16:creationId xmlns:a16="http://schemas.microsoft.com/office/drawing/2014/main" id="{088BAD28-6251-DB0D-5940-B58D4034D999}"/>
              </a:ext>
            </a:extLst>
          </p:cNvPr>
          <p:cNvSpPr txBox="1"/>
          <p:nvPr/>
        </p:nvSpPr>
        <p:spPr>
          <a:xfrm>
            <a:off x="838200" y="1828800"/>
            <a:ext cx="6216926" cy="4401205"/>
          </a:xfrm>
          <a:prstGeom prst="rect">
            <a:avLst/>
          </a:prstGeom>
          <a:noFill/>
        </p:spPr>
        <p:txBody>
          <a:bodyPr wrap="square">
            <a:spAutoFit/>
          </a:bodyPr>
          <a:lstStyle/>
          <a:p>
            <a:pPr marL="457200" lvl="0" indent="-457200">
              <a:buFont typeface="Wingdings" panose="05000000000000000000" pitchFamily="2" charset="2"/>
              <a:buChar char="Ø"/>
            </a:pPr>
            <a:r>
              <a:rPr lang="en-IN" sz="2800" dirty="0"/>
              <a:t>Enter the </a:t>
            </a:r>
            <a:r>
              <a:rPr lang="en-IN" sz="2800" b="1" dirty="0"/>
              <a:t>number of students</a:t>
            </a:r>
            <a:r>
              <a:rPr lang="en-IN" sz="2800" dirty="0"/>
              <a:t>.</a:t>
            </a:r>
          </a:p>
          <a:p>
            <a:pPr marL="457200" lvl="0" indent="-457200">
              <a:buFont typeface="Wingdings" panose="05000000000000000000" pitchFamily="2" charset="2"/>
              <a:buChar char="Ø"/>
            </a:pPr>
            <a:r>
              <a:rPr lang="en-IN" sz="2800" dirty="0"/>
              <a:t>Enter each student's </a:t>
            </a:r>
            <a:r>
              <a:rPr lang="en-IN" sz="2800" b="1" dirty="0"/>
              <a:t>roll number</a:t>
            </a:r>
            <a:r>
              <a:rPr lang="en-IN" sz="2800" dirty="0"/>
              <a:t>.</a:t>
            </a:r>
          </a:p>
          <a:p>
            <a:pPr marL="457200" lvl="0" indent="-457200">
              <a:buFont typeface="Wingdings" panose="05000000000000000000" pitchFamily="2" charset="2"/>
              <a:buChar char="Ø"/>
            </a:pPr>
            <a:r>
              <a:rPr lang="en-IN" sz="2800" dirty="0"/>
              <a:t>Enter each student's </a:t>
            </a:r>
            <a:r>
              <a:rPr lang="en-IN" sz="2800" b="1" dirty="0"/>
              <a:t>name</a:t>
            </a:r>
            <a:r>
              <a:rPr lang="en-IN" sz="2800" dirty="0"/>
              <a:t>.</a:t>
            </a:r>
          </a:p>
          <a:p>
            <a:pPr marL="457200" lvl="0" indent="-457200">
              <a:buFont typeface="Wingdings" panose="05000000000000000000" pitchFamily="2" charset="2"/>
              <a:buChar char="Ø"/>
            </a:pPr>
            <a:r>
              <a:rPr lang="en-IN" sz="2800" dirty="0"/>
              <a:t>Select an option from the </a:t>
            </a:r>
            <a:r>
              <a:rPr lang="en-IN" sz="2800" b="1" dirty="0"/>
              <a:t>menu</a:t>
            </a:r>
            <a:r>
              <a:rPr lang="en-IN" sz="2800" dirty="0"/>
              <a:t>.</a:t>
            </a:r>
          </a:p>
          <a:p>
            <a:pPr marL="457200" lvl="0" indent="-457200">
              <a:buFont typeface="Wingdings" panose="05000000000000000000" pitchFamily="2" charset="2"/>
              <a:buChar char="Ø"/>
            </a:pPr>
            <a:r>
              <a:rPr lang="en-IN" sz="2800" dirty="0"/>
              <a:t>For attendance, enter </a:t>
            </a:r>
            <a:r>
              <a:rPr lang="en-IN" sz="2800" b="1" dirty="0"/>
              <a:t>Y</a:t>
            </a:r>
            <a:r>
              <a:rPr lang="en-IN" sz="2800" dirty="0"/>
              <a:t> for Present or </a:t>
            </a:r>
            <a:r>
              <a:rPr lang="en-IN" sz="2800" b="1" dirty="0"/>
              <a:t>N</a:t>
            </a:r>
            <a:r>
              <a:rPr lang="en-IN" sz="2800" dirty="0"/>
              <a:t> for Absent.</a:t>
            </a:r>
          </a:p>
          <a:p>
            <a:pPr marL="457200" lvl="0" indent="-457200">
              <a:buFont typeface="Wingdings" panose="05000000000000000000" pitchFamily="2" charset="2"/>
              <a:buChar char="Ø"/>
            </a:pPr>
            <a:r>
              <a:rPr lang="en-IN" sz="2800" dirty="0"/>
              <a:t>Enter the </a:t>
            </a:r>
            <a:r>
              <a:rPr lang="en-IN" sz="2800" b="1" dirty="0"/>
              <a:t>total working days</a:t>
            </a:r>
            <a:r>
              <a:rPr lang="en-IN" sz="2800" dirty="0"/>
              <a:t> for attendance percentage calculation.</a:t>
            </a:r>
          </a:p>
          <a:p>
            <a:pPr marL="457200" lvl="0" indent="-457200">
              <a:buFont typeface="Wingdings" panose="05000000000000000000" pitchFamily="2" charset="2"/>
              <a:buChar char="Ø"/>
            </a:pPr>
            <a:r>
              <a:rPr lang="en-IN" sz="2800" dirty="0"/>
              <a:t>Enter a </a:t>
            </a:r>
            <a:r>
              <a:rPr lang="en-IN" sz="2800" b="1" dirty="0"/>
              <a:t>roll number</a:t>
            </a:r>
            <a:r>
              <a:rPr lang="en-IN" sz="2800" dirty="0"/>
              <a:t> when searching for a student</a:t>
            </a:r>
            <a:r>
              <a:rPr lang="en-IN" dirty="0"/>
              <a:t>.</a:t>
            </a:r>
          </a:p>
        </p:txBody>
      </p:sp>
      <p:grpSp>
        <p:nvGrpSpPr>
          <p:cNvPr id="8" name="object 3">
            <a:extLst>
              <a:ext uri="{FF2B5EF4-FFF2-40B4-BE49-F238E27FC236}">
                <a16:creationId xmlns:a16="http://schemas.microsoft.com/office/drawing/2014/main" id="{86F92195-4F5A-2CCE-172C-79D17F1299D5}"/>
              </a:ext>
            </a:extLst>
          </p:cNvPr>
          <p:cNvGrpSpPr/>
          <p:nvPr/>
        </p:nvGrpSpPr>
        <p:grpSpPr>
          <a:xfrm>
            <a:off x="3424237" y="165549"/>
            <a:ext cx="5103904" cy="1198311"/>
            <a:chOff x="2648188" y="47148"/>
            <a:chExt cx="5103904" cy="1198311"/>
          </a:xfrm>
        </p:grpSpPr>
        <p:pic>
          <p:nvPicPr>
            <p:cNvPr id="9" name="object 4">
              <a:extLst>
                <a:ext uri="{FF2B5EF4-FFF2-40B4-BE49-F238E27FC236}">
                  <a16:creationId xmlns:a16="http://schemas.microsoft.com/office/drawing/2014/main" id="{6E89D52E-3384-166A-BAEF-46172B81978A}"/>
                </a:ext>
              </a:extLst>
            </p:cNvPr>
            <p:cNvPicPr/>
            <p:nvPr/>
          </p:nvPicPr>
          <p:blipFill>
            <a:blip r:embed="rId2" cstate="print"/>
            <a:stretch>
              <a:fillRect/>
            </a:stretch>
          </p:blipFill>
          <p:spPr>
            <a:xfrm>
              <a:off x="2648188" y="47148"/>
              <a:ext cx="5103904" cy="1198311"/>
            </a:xfrm>
            <a:prstGeom prst="rect">
              <a:avLst/>
            </a:prstGeom>
          </p:spPr>
        </p:pic>
        <p:pic>
          <p:nvPicPr>
            <p:cNvPr id="10" name="object 5">
              <a:extLst>
                <a:ext uri="{FF2B5EF4-FFF2-40B4-BE49-F238E27FC236}">
                  <a16:creationId xmlns:a16="http://schemas.microsoft.com/office/drawing/2014/main" id="{38ECCB1C-F745-79A9-741D-1244BD15197F}"/>
                </a:ext>
              </a:extLst>
            </p:cNvPr>
            <p:cNvPicPr/>
            <p:nvPr/>
          </p:nvPicPr>
          <p:blipFill>
            <a:blip r:embed="rId3" cstate="print"/>
            <a:stretch>
              <a:fillRect/>
            </a:stretch>
          </p:blipFill>
          <p:spPr>
            <a:xfrm>
              <a:off x="2703195" y="86439"/>
              <a:ext cx="4997767" cy="1092279"/>
            </a:xfrm>
            <a:prstGeom prst="rect">
              <a:avLst/>
            </a:prstGeom>
          </p:spPr>
        </p:pic>
        <p:pic>
          <p:nvPicPr>
            <p:cNvPr id="11" name="object 6">
              <a:extLst>
                <a:ext uri="{FF2B5EF4-FFF2-40B4-BE49-F238E27FC236}">
                  <a16:creationId xmlns:a16="http://schemas.microsoft.com/office/drawing/2014/main" id="{721350F8-057E-CB41-1AB7-9E866EC14D48}"/>
                </a:ext>
              </a:extLst>
            </p:cNvPr>
            <p:cNvPicPr/>
            <p:nvPr/>
          </p:nvPicPr>
          <p:blipFill>
            <a:blip r:embed="rId4" cstate="print"/>
            <a:stretch>
              <a:fillRect/>
            </a:stretch>
          </p:blipFill>
          <p:spPr>
            <a:xfrm>
              <a:off x="2828925" y="243549"/>
              <a:ext cx="4585268" cy="522565"/>
            </a:xfrm>
            <a:prstGeom prst="rect">
              <a:avLst/>
            </a:prstGeom>
          </p:spPr>
        </p:pic>
        <p:sp>
          <p:nvSpPr>
            <p:cNvPr id="12" name="object 7">
              <a:extLst>
                <a:ext uri="{FF2B5EF4-FFF2-40B4-BE49-F238E27FC236}">
                  <a16:creationId xmlns:a16="http://schemas.microsoft.com/office/drawing/2014/main" id="{C1545B68-DDA3-5C39-5AD4-796DC7D86D1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dirty="0"/>
                <a:t>                                </a:t>
              </a:r>
              <a:r>
                <a:rPr sz="3200" b="1" dirty="0"/>
                <a:t>INPUT</a:t>
              </a:r>
            </a:p>
          </p:txBody>
        </p:sp>
      </p:grpSp>
      <p:pic>
        <p:nvPicPr>
          <p:cNvPr id="14" name="Picture 13">
            <a:extLst>
              <a:ext uri="{FF2B5EF4-FFF2-40B4-BE49-F238E27FC236}">
                <a16:creationId xmlns:a16="http://schemas.microsoft.com/office/drawing/2014/main" id="{63AC555E-32C1-E4F7-3523-F877CE50E7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51476" y="933281"/>
            <a:ext cx="5257800" cy="2734057"/>
          </a:xfrm>
          <a:prstGeom prst="rect">
            <a:avLst/>
          </a:prstGeom>
        </p:spPr>
      </p:pic>
    </p:spTree>
    <p:extLst>
      <p:ext uri="{BB962C8B-B14F-4D97-AF65-F5344CB8AC3E}">
        <p14:creationId xmlns:p14="http://schemas.microsoft.com/office/powerpoint/2010/main" val="1592372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A0A623-47D5-23CC-5495-F887DDE8A8B2}"/>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C9A65624-AFC2-43A6-CEFF-FA89A46E654D}"/>
              </a:ext>
            </a:extLst>
          </p:cNvPr>
          <p:cNvSpPr>
            <a:spLocks noGrp="1"/>
          </p:cNvSpPr>
          <p:nvPr>
            <p:ph type="ftr" sz="quarter" idx="11"/>
          </p:nvPr>
        </p:nvSpPr>
        <p:spPr/>
        <p:txBody>
          <a:bodyPr/>
          <a:lstStyle/>
          <a:p>
            <a:r>
              <a:rPr lang="en-US"/>
              <a:t>PBL Course Name: Object Oriented Programming through C++(2501CS08)     REVIEW-1</a:t>
            </a:r>
            <a:endParaRPr lang="en-US" dirty="0"/>
          </a:p>
        </p:txBody>
      </p:sp>
      <p:sp>
        <p:nvSpPr>
          <p:cNvPr id="4" name="Slide Number Placeholder 3">
            <a:extLst>
              <a:ext uri="{FF2B5EF4-FFF2-40B4-BE49-F238E27FC236}">
                <a16:creationId xmlns:a16="http://schemas.microsoft.com/office/drawing/2014/main" id="{36E6B9F9-A8A5-D7ED-ED58-541FAFFFFA32}"/>
              </a:ext>
            </a:extLst>
          </p:cNvPr>
          <p:cNvSpPr>
            <a:spLocks noGrp="1"/>
          </p:cNvSpPr>
          <p:nvPr>
            <p:ph type="sldNum" sz="quarter" idx="12"/>
          </p:nvPr>
        </p:nvSpPr>
        <p:spPr/>
        <p:txBody>
          <a:bodyPr/>
          <a:lstStyle/>
          <a:p>
            <a:fld id="{D9C5B093-D3DD-4808-813A-F58BF8E67773}" type="slidenum">
              <a:rPr lang="en-IN" smtClean="0"/>
              <a:t>14</a:t>
            </a:fld>
            <a:endParaRPr lang="en-IN" dirty="0"/>
          </a:p>
        </p:txBody>
      </p:sp>
      <p:sp>
        <p:nvSpPr>
          <p:cNvPr id="6" name="TextBox 5">
            <a:extLst>
              <a:ext uri="{FF2B5EF4-FFF2-40B4-BE49-F238E27FC236}">
                <a16:creationId xmlns:a16="http://schemas.microsoft.com/office/drawing/2014/main" id="{B327D3B6-CA1D-C15D-9159-8F34E612AF59}"/>
              </a:ext>
            </a:extLst>
          </p:cNvPr>
          <p:cNvSpPr txBox="1"/>
          <p:nvPr/>
        </p:nvSpPr>
        <p:spPr>
          <a:xfrm>
            <a:off x="457200" y="1981200"/>
            <a:ext cx="6324600" cy="3139321"/>
          </a:xfrm>
          <a:prstGeom prst="rect">
            <a:avLst/>
          </a:prstGeom>
          <a:noFill/>
        </p:spPr>
        <p:txBody>
          <a:bodyPr wrap="square">
            <a:spAutoFit/>
          </a:bodyPr>
          <a:lstStyle/>
          <a:p>
            <a:pPr marL="342900" lvl="0" indent="-342900">
              <a:buFont typeface="Wingdings" panose="05000000000000000000" pitchFamily="2" charset="2"/>
              <a:buChar char="ü"/>
            </a:pPr>
            <a:r>
              <a:rPr lang="en-IN" dirty="0"/>
              <a:t>Displays all </a:t>
            </a:r>
            <a:r>
              <a:rPr lang="en-IN" b="1" dirty="0"/>
              <a:t>student details</a:t>
            </a:r>
            <a:r>
              <a:rPr lang="en-IN" dirty="0"/>
              <a:t> including roll number, name, and present days.</a:t>
            </a:r>
          </a:p>
          <a:p>
            <a:pPr marL="342900" lvl="0" indent="-342900">
              <a:buFont typeface="Wingdings" panose="05000000000000000000" pitchFamily="2" charset="2"/>
              <a:buChar char="ü"/>
            </a:pPr>
            <a:r>
              <a:rPr lang="en-IN" dirty="0"/>
              <a:t>Displays </a:t>
            </a:r>
            <a:r>
              <a:rPr lang="en-IN" b="1" dirty="0"/>
              <a:t>"Attendance Marked Successfully!"</a:t>
            </a:r>
            <a:r>
              <a:rPr lang="en-IN" dirty="0"/>
              <a:t> when a student is present.</a:t>
            </a:r>
          </a:p>
          <a:p>
            <a:pPr marL="342900" lvl="0" indent="-342900">
              <a:buFont typeface="Wingdings" panose="05000000000000000000" pitchFamily="2" charset="2"/>
              <a:buChar char="ü"/>
            </a:pPr>
            <a:r>
              <a:rPr lang="en-IN" dirty="0"/>
              <a:t>Displays </a:t>
            </a:r>
            <a:r>
              <a:rPr lang="en-IN" b="1" dirty="0"/>
              <a:t>"Student marked Absent."</a:t>
            </a:r>
            <a:r>
              <a:rPr lang="en-IN" dirty="0"/>
              <a:t> when a student is absent.</a:t>
            </a:r>
          </a:p>
          <a:p>
            <a:pPr marL="342900" lvl="0" indent="-342900">
              <a:buFont typeface="Wingdings" panose="05000000000000000000" pitchFamily="2" charset="2"/>
              <a:buChar char="ü"/>
            </a:pPr>
            <a:r>
              <a:rPr lang="en-IN" dirty="0"/>
              <a:t>Displays the </a:t>
            </a:r>
            <a:r>
              <a:rPr lang="en-IN" b="1" dirty="0"/>
              <a:t>attendance percentage</a:t>
            </a:r>
            <a:r>
              <a:rPr lang="en-IN" dirty="0"/>
              <a:t> of each student.</a:t>
            </a:r>
          </a:p>
          <a:p>
            <a:pPr marL="342900" lvl="0" indent="-342900">
              <a:buFont typeface="Wingdings" panose="05000000000000000000" pitchFamily="2" charset="2"/>
              <a:buChar char="ü"/>
            </a:pPr>
            <a:r>
              <a:rPr lang="en-IN" dirty="0"/>
              <a:t>Displays students whose attendance is </a:t>
            </a:r>
            <a:r>
              <a:rPr lang="en-IN" b="1" dirty="0"/>
              <a:t>below 75%</a:t>
            </a:r>
            <a:r>
              <a:rPr lang="en-IN" dirty="0"/>
              <a:t>.</a:t>
            </a:r>
          </a:p>
          <a:p>
            <a:pPr marL="342900" lvl="0" indent="-342900">
              <a:buFont typeface="Wingdings" panose="05000000000000000000" pitchFamily="2" charset="2"/>
              <a:buChar char="ü"/>
            </a:pPr>
            <a:r>
              <a:rPr lang="en-IN" dirty="0"/>
              <a:t>Displays the searched student's details.</a:t>
            </a:r>
          </a:p>
          <a:p>
            <a:pPr marL="342900" lvl="0" indent="-342900">
              <a:buFont typeface="Wingdings" panose="05000000000000000000" pitchFamily="2" charset="2"/>
              <a:buChar char="ü"/>
            </a:pPr>
            <a:r>
              <a:rPr lang="en-IN" dirty="0"/>
              <a:t>Displays </a:t>
            </a:r>
            <a:r>
              <a:rPr lang="en-IN" b="1" dirty="0"/>
              <a:t>"Student Not Found!"</a:t>
            </a:r>
            <a:r>
              <a:rPr lang="en-IN" dirty="0"/>
              <a:t> when the entered roll number does not exist.</a:t>
            </a:r>
          </a:p>
          <a:p>
            <a:pPr marL="342900" lvl="0" indent="-342900">
              <a:buFont typeface="Wingdings" panose="05000000000000000000" pitchFamily="2" charset="2"/>
              <a:buChar char="ü"/>
            </a:pPr>
            <a:r>
              <a:rPr lang="en-IN" dirty="0"/>
              <a:t>Displays </a:t>
            </a:r>
            <a:r>
              <a:rPr lang="en-IN" b="1" dirty="0"/>
              <a:t>"Thank You!"</a:t>
            </a:r>
            <a:r>
              <a:rPr lang="en-IN" dirty="0"/>
              <a:t> when the user exits the system.</a:t>
            </a:r>
          </a:p>
        </p:txBody>
      </p:sp>
      <p:grpSp>
        <p:nvGrpSpPr>
          <p:cNvPr id="8" name="object 3">
            <a:extLst>
              <a:ext uri="{FF2B5EF4-FFF2-40B4-BE49-F238E27FC236}">
                <a16:creationId xmlns:a16="http://schemas.microsoft.com/office/drawing/2014/main" id="{C6191C03-C100-0E8D-0504-BF4C7B308F41}"/>
              </a:ext>
            </a:extLst>
          </p:cNvPr>
          <p:cNvGrpSpPr/>
          <p:nvPr/>
        </p:nvGrpSpPr>
        <p:grpSpPr>
          <a:xfrm>
            <a:off x="3810000" y="330945"/>
            <a:ext cx="5103904" cy="1650255"/>
            <a:chOff x="2648188" y="47148"/>
            <a:chExt cx="5103904" cy="1198311"/>
          </a:xfrm>
        </p:grpSpPr>
        <p:pic>
          <p:nvPicPr>
            <p:cNvPr id="9" name="object 4">
              <a:extLst>
                <a:ext uri="{FF2B5EF4-FFF2-40B4-BE49-F238E27FC236}">
                  <a16:creationId xmlns:a16="http://schemas.microsoft.com/office/drawing/2014/main" id="{5765DBEB-47AC-2741-9AEA-59C1C4CEF806}"/>
                </a:ext>
              </a:extLst>
            </p:cNvPr>
            <p:cNvPicPr/>
            <p:nvPr/>
          </p:nvPicPr>
          <p:blipFill>
            <a:blip r:embed="rId2" cstate="print"/>
            <a:stretch>
              <a:fillRect/>
            </a:stretch>
          </p:blipFill>
          <p:spPr>
            <a:xfrm>
              <a:off x="2648188" y="47148"/>
              <a:ext cx="5103904" cy="1198311"/>
            </a:xfrm>
            <a:prstGeom prst="rect">
              <a:avLst/>
            </a:prstGeom>
          </p:spPr>
        </p:pic>
        <p:pic>
          <p:nvPicPr>
            <p:cNvPr id="10" name="object 5">
              <a:extLst>
                <a:ext uri="{FF2B5EF4-FFF2-40B4-BE49-F238E27FC236}">
                  <a16:creationId xmlns:a16="http://schemas.microsoft.com/office/drawing/2014/main" id="{1ABB68FB-2968-0800-57C3-08E61C6263AF}"/>
                </a:ext>
              </a:extLst>
            </p:cNvPr>
            <p:cNvPicPr/>
            <p:nvPr/>
          </p:nvPicPr>
          <p:blipFill>
            <a:blip r:embed="rId3" cstate="print"/>
            <a:stretch>
              <a:fillRect/>
            </a:stretch>
          </p:blipFill>
          <p:spPr>
            <a:xfrm>
              <a:off x="2703195" y="86439"/>
              <a:ext cx="4997767" cy="1092279"/>
            </a:xfrm>
            <a:prstGeom prst="rect">
              <a:avLst/>
            </a:prstGeom>
          </p:spPr>
        </p:pic>
        <p:pic>
          <p:nvPicPr>
            <p:cNvPr id="11" name="object 6">
              <a:extLst>
                <a:ext uri="{FF2B5EF4-FFF2-40B4-BE49-F238E27FC236}">
                  <a16:creationId xmlns:a16="http://schemas.microsoft.com/office/drawing/2014/main" id="{D2D7E455-10B0-3968-6D66-5FBED21064E9}"/>
                </a:ext>
              </a:extLst>
            </p:cNvPr>
            <p:cNvPicPr/>
            <p:nvPr/>
          </p:nvPicPr>
          <p:blipFill>
            <a:blip r:embed="rId4" cstate="print"/>
            <a:stretch>
              <a:fillRect/>
            </a:stretch>
          </p:blipFill>
          <p:spPr>
            <a:xfrm>
              <a:off x="2828925" y="243549"/>
              <a:ext cx="4585268" cy="522565"/>
            </a:xfrm>
            <a:prstGeom prst="rect">
              <a:avLst/>
            </a:prstGeom>
          </p:spPr>
        </p:pic>
        <p:sp>
          <p:nvSpPr>
            <p:cNvPr id="12" name="object 7">
              <a:extLst>
                <a:ext uri="{FF2B5EF4-FFF2-40B4-BE49-F238E27FC236}">
                  <a16:creationId xmlns:a16="http://schemas.microsoft.com/office/drawing/2014/main" id="{B54F119B-2C4A-1820-3823-F06D83824901}"/>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8" name="TextBox 17">
            <a:extLst>
              <a:ext uri="{FF2B5EF4-FFF2-40B4-BE49-F238E27FC236}">
                <a16:creationId xmlns:a16="http://schemas.microsoft.com/office/drawing/2014/main" id="{0D793E67-777D-13C0-3201-82795F87E7DC}"/>
              </a:ext>
            </a:extLst>
          </p:cNvPr>
          <p:cNvSpPr txBox="1"/>
          <p:nvPr/>
        </p:nvSpPr>
        <p:spPr>
          <a:xfrm>
            <a:off x="5136874" y="689267"/>
            <a:ext cx="6216926" cy="523220"/>
          </a:xfrm>
          <a:prstGeom prst="rect">
            <a:avLst/>
          </a:prstGeom>
          <a:noFill/>
        </p:spPr>
        <p:txBody>
          <a:bodyPr wrap="square">
            <a:spAutoFit/>
          </a:bodyPr>
          <a:lstStyle/>
          <a:p>
            <a:pPr>
              <a:buNone/>
            </a:pPr>
            <a:r>
              <a:rPr lang="en-IN" sz="2800" b="1" dirty="0"/>
              <a:t>Expected Output</a:t>
            </a:r>
          </a:p>
        </p:txBody>
      </p:sp>
      <p:pic>
        <p:nvPicPr>
          <p:cNvPr id="20" name="Picture 19">
            <a:extLst>
              <a:ext uri="{FF2B5EF4-FFF2-40B4-BE49-F238E27FC236}">
                <a16:creationId xmlns:a16="http://schemas.microsoft.com/office/drawing/2014/main" id="{F27A8043-A9CC-5E9D-61D0-C96C5D77A7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81800" y="1513386"/>
            <a:ext cx="5306123" cy="3543795"/>
          </a:xfrm>
          <a:prstGeom prst="rect">
            <a:avLst/>
          </a:prstGeom>
        </p:spPr>
      </p:pic>
    </p:spTree>
    <p:extLst>
      <p:ext uri="{BB962C8B-B14F-4D97-AF65-F5344CB8AC3E}">
        <p14:creationId xmlns:p14="http://schemas.microsoft.com/office/powerpoint/2010/main" val="2418432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endParaRPr lang="en-US" dirty="0"/>
          </a:p>
        </p:txBody>
      </p:sp>
      <p:sp>
        <p:nvSpPr>
          <p:cNvPr id="4" name="Footer Placeholder 3">
            <a:extLst>
              <a:ext uri="{FF2B5EF4-FFF2-40B4-BE49-F238E27FC236}">
                <a16:creationId xmlns:a16="http://schemas.microsoft.com/office/drawing/2014/main" id="{6C1A7CD3-FDC3-32A7-74E1-968EEFC4A74C}"/>
              </a:ext>
            </a:extLst>
          </p:cNvPr>
          <p:cNvSpPr>
            <a:spLocks noGrp="1"/>
          </p:cNvSpPr>
          <p:nvPr>
            <p:ph type="ftr" sz="quarter" idx="2"/>
          </p:nvPr>
        </p:nvSpPr>
        <p:spPr/>
        <p:txBody>
          <a:bodyPr/>
          <a:lstStyle/>
          <a:p>
            <a:r>
              <a:rPr lang="en-US"/>
              <a:t>PBL Course Name: Object Oriented Programming through C++(2501CS08)     REVIEW-1</a:t>
            </a:r>
            <a:endParaRPr lang="en-US" dirty="0"/>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15</a:t>
            </a:fld>
            <a:endParaRPr lang="en-IN" dirty="0"/>
          </a:p>
        </p:txBody>
      </p:sp>
      <p:pic>
        <p:nvPicPr>
          <p:cNvPr id="18" name="Picture 17">
            <a:extLst>
              <a:ext uri="{FF2B5EF4-FFF2-40B4-BE49-F238E27FC236}">
                <a16:creationId xmlns:a16="http://schemas.microsoft.com/office/drawing/2014/main" id="{000B8CFF-655F-0D31-0E01-5B75D60344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411" y="969259"/>
            <a:ext cx="10805641" cy="5309510"/>
          </a:xfrm>
          <a:prstGeom prst="rect">
            <a:avLst/>
          </a:prstGeom>
        </p:spPr>
      </p:pic>
      <p:grpSp>
        <p:nvGrpSpPr>
          <p:cNvPr id="2" name="object 3">
            <a:extLst>
              <a:ext uri="{FF2B5EF4-FFF2-40B4-BE49-F238E27FC236}">
                <a16:creationId xmlns:a16="http://schemas.microsoft.com/office/drawing/2014/main" id="{654E5034-E183-07C0-6E95-10964FB5AADF}"/>
              </a:ext>
            </a:extLst>
          </p:cNvPr>
          <p:cNvGrpSpPr/>
          <p:nvPr/>
        </p:nvGrpSpPr>
        <p:grpSpPr>
          <a:xfrm>
            <a:off x="3067930" y="44765"/>
            <a:ext cx="6056139" cy="1326835"/>
            <a:chOff x="2648188" y="47148"/>
            <a:chExt cx="5103904" cy="1198311"/>
          </a:xfrm>
        </p:grpSpPr>
        <p:pic>
          <p:nvPicPr>
            <p:cNvPr id="6" name="object 4">
              <a:extLst>
                <a:ext uri="{FF2B5EF4-FFF2-40B4-BE49-F238E27FC236}">
                  <a16:creationId xmlns:a16="http://schemas.microsoft.com/office/drawing/2014/main" id="{6325D971-B04F-2A2A-AA17-BEF71A46FDB5}"/>
                </a:ext>
              </a:extLst>
            </p:cNvPr>
            <p:cNvPicPr/>
            <p:nvPr/>
          </p:nvPicPr>
          <p:blipFill>
            <a:blip r:embed="rId3" cstate="print"/>
            <a:stretch>
              <a:fillRect/>
            </a:stretch>
          </p:blipFill>
          <p:spPr>
            <a:xfrm>
              <a:off x="2648188" y="47148"/>
              <a:ext cx="5103904" cy="1198311"/>
            </a:xfrm>
            <a:prstGeom prst="rect">
              <a:avLst/>
            </a:prstGeom>
          </p:spPr>
        </p:pic>
        <p:pic>
          <p:nvPicPr>
            <p:cNvPr id="8" name="object 5">
              <a:extLst>
                <a:ext uri="{FF2B5EF4-FFF2-40B4-BE49-F238E27FC236}">
                  <a16:creationId xmlns:a16="http://schemas.microsoft.com/office/drawing/2014/main" id="{81DC3F19-32DE-30E1-12CC-5E4A3F4241F3}"/>
                </a:ext>
              </a:extLst>
            </p:cNvPr>
            <p:cNvPicPr/>
            <p:nvPr/>
          </p:nvPicPr>
          <p:blipFill>
            <a:blip r:embed="rId4" cstate="print"/>
            <a:stretch>
              <a:fillRect/>
            </a:stretch>
          </p:blipFill>
          <p:spPr>
            <a:xfrm>
              <a:off x="2703195" y="86439"/>
              <a:ext cx="4997767" cy="1092279"/>
            </a:xfrm>
            <a:prstGeom prst="rect">
              <a:avLst/>
            </a:prstGeom>
          </p:spPr>
        </p:pic>
        <p:pic>
          <p:nvPicPr>
            <p:cNvPr id="9" name="object 6">
              <a:extLst>
                <a:ext uri="{FF2B5EF4-FFF2-40B4-BE49-F238E27FC236}">
                  <a16:creationId xmlns:a16="http://schemas.microsoft.com/office/drawing/2014/main" id="{E9507442-F454-9E90-A98A-B1904B4E615B}"/>
                </a:ext>
              </a:extLst>
            </p:cNvPr>
            <p:cNvPicPr/>
            <p:nvPr/>
          </p:nvPicPr>
          <p:blipFill>
            <a:blip r:embed="rId5" cstate="print"/>
            <a:stretch>
              <a:fillRect/>
            </a:stretch>
          </p:blipFill>
          <p:spPr>
            <a:xfrm>
              <a:off x="2828925" y="243549"/>
              <a:ext cx="4585268" cy="522565"/>
            </a:xfrm>
            <a:prstGeom prst="rect">
              <a:avLst/>
            </a:prstGeom>
          </p:spPr>
        </p:pic>
        <p:sp>
          <p:nvSpPr>
            <p:cNvPr id="10" name="object 7">
              <a:extLst>
                <a:ext uri="{FF2B5EF4-FFF2-40B4-BE49-F238E27FC236}">
                  <a16:creationId xmlns:a16="http://schemas.microsoft.com/office/drawing/2014/main" id="{08AC12A0-7106-EAD1-7356-12DAC614BD7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TextBox 11">
            <a:extLst>
              <a:ext uri="{FF2B5EF4-FFF2-40B4-BE49-F238E27FC236}">
                <a16:creationId xmlns:a16="http://schemas.microsoft.com/office/drawing/2014/main" id="{E219A104-2E37-35ED-77A4-996D699B2636}"/>
              </a:ext>
            </a:extLst>
          </p:cNvPr>
          <p:cNvSpPr txBox="1"/>
          <p:nvPr/>
        </p:nvSpPr>
        <p:spPr>
          <a:xfrm>
            <a:off x="2351583" y="260999"/>
            <a:ext cx="7364894" cy="535531"/>
          </a:xfrm>
          <a:prstGeom prst="rect">
            <a:avLst/>
          </a:prstGeom>
          <a:noFill/>
        </p:spPr>
        <p:txBody>
          <a:bodyPr wrap="square">
            <a:spAutoFit/>
          </a:bodyPr>
          <a:lstStyle/>
          <a:p>
            <a:pPr lvl="0" algn="ctr">
              <a:lnSpc>
                <a:spcPct val="90000"/>
              </a:lnSpc>
              <a:spcBef>
                <a:spcPct val="0"/>
              </a:spcBef>
            </a:pPr>
            <a:r>
              <a:rPr lang="en-GB" sz="3200" b="1" dirty="0">
                <a:solidFill>
                  <a:schemeClr val="tx2">
                    <a:lumMod val="50000"/>
                  </a:schemeClr>
                </a:solidFill>
                <a:latin typeface="Maiandra GD" panose="020E0502030308020204" pitchFamily="34" charset="0"/>
                <a:cs typeface="Aharoni" panose="02010803020104030203" pitchFamily="2" charset="-79"/>
              </a:rPr>
              <a:t>Architecture Diagram</a:t>
            </a:r>
          </a:p>
        </p:txBody>
      </p:sp>
    </p:spTree>
    <p:extLst>
      <p:ext uri="{BB962C8B-B14F-4D97-AF65-F5344CB8AC3E}">
        <p14:creationId xmlns:p14="http://schemas.microsoft.com/office/powerpoint/2010/main" val="1780977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16</a:t>
            </a:fld>
            <a:endParaRPr lang="en-IN" dirty="0"/>
          </a:p>
        </p:txBody>
      </p:sp>
      <p:pic>
        <p:nvPicPr>
          <p:cNvPr id="3" name="Picture 2">
            <a:extLst>
              <a:ext uri="{FF2B5EF4-FFF2-40B4-BE49-F238E27FC236}">
                <a16:creationId xmlns:a16="http://schemas.microsoft.com/office/drawing/2014/main" id="{307554C7-0298-D04A-970D-0609327BCB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9700" y="1095565"/>
            <a:ext cx="9372600" cy="5762435"/>
          </a:xfrm>
          <a:prstGeom prst="rect">
            <a:avLst/>
          </a:prstGeom>
        </p:spPr>
      </p:pic>
      <p:grpSp>
        <p:nvGrpSpPr>
          <p:cNvPr id="4" name="object 3">
            <a:extLst>
              <a:ext uri="{FF2B5EF4-FFF2-40B4-BE49-F238E27FC236}">
                <a16:creationId xmlns:a16="http://schemas.microsoft.com/office/drawing/2014/main" id="{E7EE9B97-B968-79A9-05C6-F9BA8BE280FD}"/>
              </a:ext>
            </a:extLst>
          </p:cNvPr>
          <p:cNvGrpSpPr/>
          <p:nvPr/>
        </p:nvGrpSpPr>
        <p:grpSpPr>
          <a:xfrm>
            <a:off x="3276600" y="0"/>
            <a:ext cx="5371352" cy="1676400"/>
            <a:chOff x="2648188" y="47148"/>
            <a:chExt cx="5103904" cy="1198311"/>
          </a:xfrm>
        </p:grpSpPr>
        <p:pic>
          <p:nvPicPr>
            <p:cNvPr id="6" name="object 4">
              <a:extLst>
                <a:ext uri="{FF2B5EF4-FFF2-40B4-BE49-F238E27FC236}">
                  <a16:creationId xmlns:a16="http://schemas.microsoft.com/office/drawing/2014/main" id="{765A8D9D-72F7-DA8D-1ACD-F93DA54D9D33}"/>
                </a:ext>
              </a:extLst>
            </p:cNvPr>
            <p:cNvPicPr/>
            <p:nvPr/>
          </p:nvPicPr>
          <p:blipFill>
            <a:blip r:embed="rId3" cstate="print"/>
            <a:stretch>
              <a:fillRect/>
            </a:stretch>
          </p:blipFill>
          <p:spPr>
            <a:xfrm>
              <a:off x="2648188" y="47148"/>
              <a:ext cx="5103904" cy="1198311"/>
            </a:xfrm>
            <a:prstGeom prst="rect">
              <a:avLst/>
            </a:prstGeom>
          </p:spPr>
        </p:pic>
        <p:pic>
          <p:nvPicPr>
            <p:cNvPr id="8" name="object 5">
              <a:extLst>
                <a:ext uri="{FF2B5EF4-FFF2-40B4-BE49-F238E27FC236}">
                  <a16:creationId xmlns:a16="http://schemas.microsoft.com/office/drawing/2014/main" id="{D8E50B5F-8234-680B-6E68-6583A66D7BFE}"/>
                </a:ext>
              </a:extLst>
            </p:cNvPr>
            <p:cNvPicPr/>
            <p:nvPr/>
          </p:nvPicPr>
          <p:blipFill>
            <a:blip r:embed="rId4" cstate="print"/>
            <a:stretch>
              <a:fillRect/>
            </a:stretch>
          </p:blipFill>
          <p:spPr>
            <a:xfrm>
              <a:off x="2703195" y="86439"/>
              <a:ext cx="4997767" cy="1092279"/>
            </a:xfrm>
            <a:prstGeom prst="rect">
              <a:avLst/>
            </a:prstGeom>
          </p:spPr>
        </p:pic>
        <p:pic>
          <p:nvPicPr>
            <p:cNvPr id="9" name="object 6">
              <a:extLst>
                <a:ext uri="{FF2B5EF4-FFF2-40B4-BE49-F238E27FC236}">
                  <a16:creationId xmlns:a16="http://schemas.microsoft.com/office/drawing/2014/main" id="{CCF26288-D833-AD09-604B-C2A6F93EE8E9}"/>
                </a:ext>
              </a:extLst>
            </p:cNvPr>
            <p:cNvPicPr/>
            <p:nvPr/>
          </p:nvPicPr>
          <p:blipFill>
            <a:blip r:embed="rId5" cstate="print"/>
            <a:stretch>
              <a:fillRect/>
            </a:stretch>
          </p:blipFill>
          <p:spPr>
            <a:xfrm>
              <a:off x="2828925" y="243549"/>
              <a:ext cx="4585268" cy="522565"/>
            </a:xfrm>
            <a:prstGeom prst="rect">
              <a:avLst/>
            </a:prstGeom>
          </p:spPr>
        </p:pic>
        <p:sp>
          <p:nvSpPr>
            <p:cNvPr id="10" name="object 7">
              <a:extLst>
                <a:ext uri="{FF2B5EF4-FFF2-40B4-BE49-F238E27FC236}">
                  <a16:creationId xmlns:a16="http://schemas.microsoft.com/office/drawing/2014/main" id="{8D3CF029-2D42-F450-0EB3-A120116F93D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TextBox 11">
            <a:extLst>
              <a:ext uri="{FF2B5EF4-FFF2-40B4-BE49-F238E27FC236}">
                <a16:creationId xmlns:a16="http://schemas.microsoft.com/office/drawing/2014/main" id="{9D33D58A-1EEC-7726-4034-9D671B06DC59}"/>
              </a:ext>
            </a:extLst>
          </p:cNvPr>
          <p:cNvSpPr txBox="1"/>
          <p:nvPr/>
        </p:nvSpPr>
        <p:spPr>
          <a:xfrm>
            <a:off x="2654576" y="288449"/>
            <a:ext cx="6654248" cy="646331"/>
          </a:xfrm>
          <a:prstGeom prst="rect">
            <a:avLst/>
          </a:prstGeom>
          <a:noFill/>
        </p:spPr>
        <p:txBody>
          <a:bodyPr wrap="square">
            <a:spAutoFit/>
          </a:bodyPr>
          <a:lstStyle/>
          <a:p>
            <a:pPr lvl="0" algn="ctr">
              <a:lnSpc>
                <a:spcPct val="90000"/>
              </a:lnSpc>
              <a:spcBef>
                <a:spcPct val="0"/>
              </a:spcBef>
            </a:pPr>
            <a:r>
              <a:rPr lang="en-GB" sz="4000" dirty="0">
                <a:solidFill>
                  <a:schemeClr val="tx2">
                    <a:lumMod val="50000"/>
                  </a:schemeClr>
                </a:solidFill>
                <a:latin typeface="Maiandra GD" panose="020E0502030308020204" pitchFamily="34" charset="0"/>
                <a:cs typeface="Aharoni" panose="02010803020104030203" pitchFamily="2" charset="-79"/>
              </a:rPr>
              <a:t>Flowchart</a:t>
            </a:r>
          </a:p>
        </p:txBody>
      </p:sp>
    </p:spTree>
    <p:extLst>
      <p:ext uri="{BB962C8B-B14F-4D97-AF65-F5344CB8AC3E}">
        <p14:creationId xmlns:p14="http://schemas.microsoft.com/office/powerpoint/2010/main" val="2026700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endParaRPr lang="en-US" dirty="0"/>
          </a:p>
        </p:txBody>
      </p:sp>
      <p:sp>
        <p:nvSpPr>
          <p:cNvPr id="4" name="Footer Placeholder 3">
            <a:extLst>
              <a:ext uri="{FF2B5EF4-FFF2-40B4-BE49-F238E27FC236}">
                <a16:creationId xmlns:a16="http://schemas.microsoft.com/office/drawing/2014/main" id="{6C1A7CD3-FDC3-32A7-74E1-968EEFC4A74C}"/>
              </a:ext>
            </a:extLst>
          </p:cNvPr>
          <p:cNvSpPr>
            <a:spLocks noGrp="1"/>
          </p:cNvSpPr>
          <p:nvPr>
            <p:ph type="ftr" sz="quarter" idx="2"/>
          </p:nvPr>
        </p:nvSpPr>
        <p:spPr/>
        <p:txBody>
          <a:bodyPr/>
          <a:lstStyle/>
          <a:p>
            <a:r>
              <a:rPr lang="en-US"/>
              <a:t>PBL Course Name: Object Oriented Programming through C++(2501CS08)     REVIEW-1</a:t>
            </a:r>
            <a:endParaRPr lang="en-US" dirty="0"/>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17</a:t>
            </a:fld>
            <a:endParaRPr lang="en-IN" dirty="0"/>
          </a:p>
        </p:txBody>
      </p:sp>
      <p:pic>
        <p:nvPicPr>
          <p:cNvPr id="6" name="Picture 5">
            <a:extLst>
              <a:ext uri="{FF2B5EF4-FFF2-40B4-BE49-F238E27FC236}">
                <a16:creationId xmlns:a16="http://schemas.microsoft.com/office/drawing/2014/main" id="{1D74B5A1-26B0-DA96-2B88-D5911BE91D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3974" y="1300658"/>
            <a:ext cx="10363200" cy="4829540"/>
          </a:xfrm>
          <a:prstGeom prst="rect">
            <a:avLst/>
          </a:prstGeom>
        </p:spPr>
      </p:pic>
      <p:grpSp>
        <p:nvGrpSpPr>
          <p:cNvPr id="2" name="object 3">
            <a:extLst>
              <a:ext uri="{FF2B5EF4-FFF2-40B4-BE49-F238E27FC236}">
                <a16:creationId xmlns:a16="http://schemas.microsoft.com/office/drawing/2014/main" id="{BEC015F3-DC52-3A74-F08D-C1FE523C039A}"/>
              </a:ext>
            </a:extLst>
          </p:cNvPr>
          <p:cNvGrpSpPr/>
          <p:nvPr/>
        </p:nvGrpSpPr>
        <p:grpSpPr>
          <a:xfrm>
            <a:off x="3159690" y="309149"/>
            <a:ext cx="7015163" cy="1510851"/>
            <a:chOff x="2648188" y="47148"/>
            <a:chExt cx="5103904" cy="1198311"/>
          </a:xfrm>
        </p:grpSpPr>
        <p:pic>
          <p:nvPicPr>
            <p:cNvPr id="8" name="object 4">
              <a:extLst>
                <a:ext uri="{FF2B5EF4-FFF2-40B4-BE49-F238E27FC236}">
                  <a16:creationId xmlns:a16="http://schemas.microsoft.com/office/drawing/2014/main" id="{6693757F-2C88-504D-74C9-C9BB8E2A9842}"/>
                </a:ext>
              </a:extLst>
            </p:cNvPr>
            <p:cNvPicPr/>
            <p:nvPr/>
          </p:nvPicPr>
          <p:blipFill>
            <a:blip r:embed="rId3"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94634441-1AE7-D0AA-F788-8D1351715A2B}"/>
                </a:ext>
              </a:extLst>
            </p:cNvPr>
            <p:cNvPicPr/>
            <p:nvPr/>
          </p:nvPicPr>
          <p:blipFill>
            <a:blip r:embed="rId4"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9FB0771E-52EA-FE5C-0F8B-E8A8A8B7F935}"/>
                </a:ext>
              </a:extLst>
            </p:cNvPr>
            <p:cNvPicPr/>
            <p:nvPr/>
          </p:nvPicPr>
          <p:blipFill>
            <a:blip r:embed="rId5"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D4F6B702-3CC3-73E6-523A-940864D4237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3" name="TextBox 12">
            <a:extLst>
              <a:ext uri="{FF2B5EF4-FFF2-40B4-BE49-F238E27FC236}">
                <a16:creationId xmlns:a16="http://schemas.microsoft.com/office/drawing/2014/main" id="{3697692E-8DBE-A494-8F60-F5F3C76C4E9C}"/>
              </a:ext>
            </a:extLst>
          </p:cNvPr>
          <p:cNvSpPr txBox="1"/>
          <p:nvPr/>
        </p:nvSpPr>
        <p:spPr>
          <a:xfrm>
            <a:off x="3558809" y="530973"/>
            <a:ext cx="6216926" cy="535531"/>
          </a:xfrm>
          <a:prstGeom prst="rect">
            <a:avLst/>
          </a:prstGeom>
          <a:noFill/>
        </p:spPr>
        <p:txBody>
          <a:bodyPr wrap="square">
            <a:spAutoFit/>
          </a:bodyPr>
          <a:lstStyle/>
          <a:p>
            <a:pPr lvl="0" algn="ctr">
              <a:lnSpc>
                <a:spcPct val="90000"/>
              </a:lnSpc>
              <a:spcBef>
                <a:spcPct val="0"/>
              </a:spcBef>
            </a:pPr>
            <a:r>
              <a:rPr lang="en-GB" sz="3200" dirty="0">
                <a:solidFill>
                  <a:schemeClr val="tx2">
                    <a:lumMod val="50000"/>
                  </a:schemeClr>
                </a:solidFill>
                <a:latin typeface="Maiandra GD" panose="020E0502030308020204" pitchFamily="34" charset="0"/>
                <a:cs typeface="Aharoni" panose="02010803020104030203" pitchFamily="2" charset="-79"/>
              </a:rPr>
              <a:t>Planning and Timeline Diagram</a:t>
            </a:r>
          </a:p>
        </p:txBody>
      </p:sp>
    </p:spTree>
    <p:extLst>
      <p:ext uri="{BB962C8B-B14F-4D97-AF65-F5344CB8AC3E}">
        <p14:creationId xmlns:p14="http://schemas.microsoft.com/office/powerpoint/2010/main" val="1780977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endParaRPr lang="en-US" dirty="0"/>
          </a:p>
        </p:txBody>
      </p:sp>
      <p:sp>
        <p:nvSpPr>
          <p:cNvPr id="4" name="Footer Placeholder 3">
            <a:extLst>
              <a:ext uri="{FF2B5EF4-FFF2-40B4-BE49-F238E27FC236}">
                <a16:creationId xmlns:a16="http://schemas.microsoft.com/office/drawing/2014/main" id="{6C1A7CD3-FDC3-32A7-74E1-968EEFC4A74C}"/>
              </a:ext>
            </a:extLst>
          </p:cNvPr>
          <p:cNvSpPr>
            <a:spLocks noGrp="1"/>
          </p:cNvSpPr>
          <p:nvPr>
            <p:ph type="ftr" sz="quarter" idx="2"/>
          </p:nvPr>
        </p:nvSpPr>
        <p:spPr/>
        <p:txBody>
          <a:bodyPr/>
          <a:lstStyle/>
          <a:p>
            <a:r>
              <a:rPr lang="en-US"/>
              <a:t>PBL Course Name: Object Oriented Programming through C++(2501CS08)     REVIEW-1</a:t>
            </a:r>
            <a:endParaRPr lang="en-US" dirty="0"/>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18</a:t>
            </a:fld>
            <a:endParaRPr lang="en-IN" dirty="0"/>
          </a:p>
        </p:txBody>
      </p:sp>
      <p:pic>
        <p:nvPicPr>
          <p:cNvPr id="9" name="Picture 8">
            <a:extLst>
              <a:ext uri="{FF2B5EF4-FFF2-40B4-BE49-F238E27FC236}">
                <a16:creationId xmlns:a16="http://schemas.microsoft.com/office/drawing/2014/main" id="{952BDC31-9F0C-ED33-DCC5-B6941F87B9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295400"/>
            <a:ext cx="10744200" cy="4343400"/>
          </a:xfrm>
          <a:prstGeom prst="rect">
            <a:avLst/>
          </a:prstGeom>
        </p:spPr>
      </p:pic>
      <p:grpSp>
        <p:nvGrpSpPr>
          <p:cNvPr id="2" name="object 3">
            <a:extLst>
              <a:ext uri="{FF2B5EF4-FFF2-40B4-BE49-F238E27FC236}">
                <a16:creationId xmlns:a16="http://schemas.microsoft.com/office/drawing/2014/main" id="{3360A6F9-E4BC-7CBA-EB14-0F0A11239592}"/>
              </a:ext>
            </a:extLst>
          </p:cNvPr>
          <p:cNvGrpSpPr/>
          <p:nvPr/>
        </p:nvGrpSpPr>
        <p:grpSpPr>
          <a:xfrm>
            <a:off x="2743200" y="-21306"/>
            <a:ext cx="6553200" cy="1469106"/>
            <a:chOff x="2648188" y="47148"/>
            <a:chExt cx="5103904" cy="1198311"/>
          </a:xfrm>
        </p:grpSpPr>
        <p:pic>
          <p:nvPicPr>
            <p:cNvPr id="6" name="object 4">
              <a:extLst>
                <a:ext uri="{FF2B5EF4-FFF2-40B4-BE49-F238E27FC236}">
                  <a16:creationId xmlns:a16="http://schemas.microsoft.com/office/drawing/2014/main" id="{021F2055-8D32-EE9E-9B82-1FFEC916EB79}"/>
                </a:ext>
              </a:extLst>
            </p:cNvPr>
            <p:cNvPicPr/>
            <p:nvPr/>
          </p:nvPicPr>
          <p:blipFill>
            <a:blip r:embed="rId3" cstate="print"/>
            <a:stretch>
              <a:fillRect/>
            </a:stretch>
          </p:blipFill>
          <p:spPr>
            <a:xfrm>
              <a:off x="2648188" y="47148"/>
              <a:ext cx="5103904" cy="1198311"/>
            </a:xfrm>
            <a:prstGeom prst="rect">
              <a:avLst/>
            </a:prstGeom>
          </p:spPr>
        </p:pic>
        <p:pic>
          <p:nvPicPr>
            <p:cNvPr id="8" name="object 5">
              <a:extLst>
                <a:ext uri="{FF2B5EF4-FFF2-40B4-BE49-F238E27FC236}">
                  <a16:creationId xmlns:a16="http://schemas.microsoft.com/office/drawing/2014/main" id="{BC308183-E656-E441-EA51-3D57F79E4085}"/>
                </a:ext>
              </a:extLst>
            </p:cNvPr>
            <p:cNvPicPr/>
            <p:nvPr/>
          </p:nvPicPr>
          <p:blipFill>
            <a:blip r:embed="rId4"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9453C684-DD78-6ED4-D7F6-A82F9F38C04B}"/>
                </a:ext>
              </a:extLst>
            </p:cNvPr>
            <p:cNvPicPr/>
            <p:nvPr/>
          </p:nvPicPr>
          <p:blipFill>
            <a:blip r:embed="rId5"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F09227E-3C4A-8ACC-A066-B20239DD4674}"/>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ctr"/>
              <a:r>
                <a:rPr lang="en-GB" sz="3200" dirty="0">
                  <a:solidFill>
                    <a:schemeClr val="bg2">
                      <a:lumMod val="10000"/>
                    </a:schemeClr>
                  </a:solidFill>
                  <a:latin typeface="Maiandra GD" panose="020E0502030308020204" pitchFamily="34" charset="0"/>
                  <a:cs typeface="Aharoni" panose="02010803020104030203" pitchFamily="2" charset="-79"/>
                </a:rPr>
                <a:t>Role of Each Individual</a:t>
              </a:r>
            </a:p>
            <a:p>
              <a:endParaRPr dirty="0"/>
            </a:p>
          </p:txBody>
        </p:sp>
      </p:grpSp>
    </p:spTree>
    <p:extLst>
      <p:ext uri="{BB962C8B-B14F-4D97-AF65-F5344CB8AC3E}">
        <p14:creationId xmlns:p14="http://schemas.microsoft.com/office/powerpoint/2010/main" val="17809770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AA2974D-1CE7-ADEF-CAF2-8E40A4E9ACE3}"/>
              </a:ext>
            </a:extLst>
          </p:cNvPr>
          <p:cNvPicPr>
            <a:picLocks noGrp="1" noChangeAspect="1"/>
          </p:cNvPicPr>
          <p:nvPr>
            <p:ph/>
          </p:nvPr>
        </p:nvPicPr>
        <p:blipFill>
          <a:blip r:embed="rId2">
            <a:extLst>
              <a:ext uri="{28A0092B-C50C-407E-A947-70E740481C1C}">
                <a14:useLocalDpi xmlns:a14="http://schemas.microsoft.com/office/drawing/2010/main" val="0"/>
              </a:ext>
            </a:extLst>
          </a:blip>
          <a:stretch>
            <a:fillRect/>
          </a:stretch>
        </p:blipFill>
        <p:spPr>
          <a:xfrm>
            <a:off x="1752600" y="1109886"/>
            <a:ext cx="9525000" cy="5367114"/>
          </a:xfrm>
        </p:spPr>
      </p:pic>
      <p:sp>
        <p:nvSpPr>
          <p:cNvPr id="2" name="Footer Placeholder 1">
            <a:extLst>
              <a:ext uri="{FF2B5EF4-FFF2-40B4-BE49-F238E27FC236}">
                <a16:creationId xmlns:a16="http://schemas.microsoft.com/office/drawing/2014/main" id="{A714BADD-841F-98DA-7B1A-166F39B295D9}"/>
              </a:ext>
            </a:extLst>
          </p:cNvPr>
          <p:cNvSpPr>
            <a:spLocks noGrp="1"/>
          </p:cNvSpPr>
          <p:nvPr>
            <p:ph type="ftr" sz="quarter" idx="2"/>
          </p:nvPr>
        </p:nvSpPr>
        <p:spPr/>
        <p:txBody>
          <a:bodyPr/>
          <a:lstStyle/>
          <a:p>
            <a:r>
              <a:rPr lang="en-US"/>
              <a:t>PBL Course Name: Object Oriented Programming through C++(2501CS08)     REVIEW-1</a:t>
            </a:r>
            <a:endParaRPr lang="en-US" dirty="0"/>
          </a:p>
        </p:txBody>
      </p:sp>
      <p:sp>
        <p:nvSpPr>
          <p:cNvPr id="3" name="Date Placeholder 2">
            <a:extLst>
              <a:ext uri="{FF2B5EF4-FFF2-40B4-BE49-F238E27FC236}">
                <a16:creationId xmlns:a16="http://schemas.microsoft.com/office/drawing/2014/main" id="{49C0285F-93AB-F1ED-9404-7BA7181450BB}"/>
              </a:ext>
            </a:extLst>
          </p:cNvPr>
          <p:cNvSpPr>
            <a:spLocks noGrp="1"/>
          </p:cNvSpPr>
          <p:nvPr>
            <p:ph type="dt" sz="half" idx="1"/>
          </p:nvPr>
        </p:nvSpPr>
        <p:spPr/>
        <p:txBody>
          <a:bodyPr/>
          <a:lstStyle/>
          <a:p>
            <a:endParaRPr lang="en-US" dirty="0"/>
          </a:p>
        </p:txBody>
      </p:sp>
      <p:sp>
        <p:nvSpPr>
          <p:cNvPr id="5" name="Slide Number Placeholder 4">
            <a:extLst>
              <a:ext uri="{FF2B5EF4-FFF2-40B4-BE49-F238E27FC236}">
                <a16:creationId xmlns:a16="http://schemas.microsoft.com/office/drawing/2014/main" id="{62FA9194-EE25-3196-F348-A230F71DC180}"/>
              </a:ext>
            </a:extLst>
          </p:cNvPr>
          <p:cNvSpPr>
            <a:spLocks noGrp="1"/>
          </p:cNvSpPr>
          <p:nvPr>
            <p:ph type="sldNum" sz="quarter" idx="3"/>
          </p:nvPr>
        </p:nvSpPr>
        <p:spPr/>
        <p:txBody>
          <a:bodyPr/>
          <a:lstStyle/>
          <a:p>
            <a:fld id="{9359D16F-76A5-41BA-ADDD-CBF352B33DDD}" type="slidenum">
              <a:rPr lang="en-IN" smtClean="0"/>
              <a:t>19</a:t>
            </a:fld>
            <a:endParaRPr lang="en-IN" dirty="0"/>
          </a:p>
        </p:txBody>
      </p:sp>
    </p:spTree>
    <p:extLst>
      <p:ext uri="{BB962C8B-B14F-4D97-AF65-F5344CB8AC3E}">
        <p14:creationId xmlns:p14="http://schemas.microsoft.com/office/powerpoint/2010/main" val="1453968739"/>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1083</TotalTime>
  <Words>1491</Words>
  <Application>Microsoft Office PowerPoint</Application>
  <PresentationFormat>Widescreen</PresentationFormat>
  <Paragraphs>185</Paragraphs>
  <Slides>19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Wingdings</vt:lpstr>
      <vt:lpstr>Calibri</vt:lpstr>
      <vt:lpstr>Calibri Light</vt:lpstr>
      <vt:lpstr>Times New Roman</vt:lpstr>
      <vt:lpstr>Maiandra GD</vt:lpstr>
      <vt:lpstr>Arial Rounded MT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palamani mahesh</dc:creator>
  <cp:lastModifiedBy>palamani mahesh</cp:lastModifiedBy>
  <cp:revision>108</cp:revision>
  <cp:lastPrinted>2025-09-02T05:24:44Z</cp:lastPrinted>
  <dcterms:created xsi:type="dcterms:W3CDTF">2025-05-29T13:02:32Z</dcterms:created>
  <dcterms:modified xsi:type="dcterms:W3CDTF">2026-09-28T15:47:35Z</dcterms:modified>
</cp:coreProperties>
</file>